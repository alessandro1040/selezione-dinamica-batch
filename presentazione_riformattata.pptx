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7" r:id="rId1"/>
  </p:sldMasterIdLst>
  <p:notesMasterIdLst>
    <p:notesMasterId r:id="rId25"/>
  </p:notesMasterIdLst>
  <p:sldIdLst>
    <p:sldId id="278" r:id="rId2"/>
    <p:sldId id="256" r:id="rId3"/>
    <p:sldId id="272" r:id="rId4"/>
    <p:sldId id="275" r:id="rId5"/>
    <p:sldId id="257" r:id="rId6"/>
    <p:sldId id="264" r:id="rId7"/>
    <p:sldId id="270" r:id="rId8"/>
    <p:sldId id="281" r:id="rId9"/>
    <p:sldId id="259" r:id="rId10"/>
    <p:sldId id="263" r:id="rId11"/>
    <p:sldId id="262" r:id="rId12"/>
    <p:sldId id="265" r:id="rId13"/>
    <p:sldId id="266" r:id="rId14"/>
    <p:sldId id="267" r:id="rId15"/>
    <p:sldId id="268" r:id="rId16"/>
    <p:sldId id="276" r:id="rId17"/>
    <p:sldId id="261" r:id="rId18"/>
    <p:sldId id="271" r:id="rId19"/>
    <p:sldId id="269" r:id="rId20"/>
    <p:sldId id="273" r:id="rId21"/>
    <p:sldId id="279" r:id="rId22"/>
    <p:sldId id="274" r:id="rId23"/>
    <p:sldId id="282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652B4-98AF-49CF-BEF3-5FC9148ED14C}" type="datetimeFigureOut">
              <a:rPr lang="it-IT" smtClean="0"/>
              <a:t>10/09/2026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74DFEE-5341-4F49-8A80-FE3A7C0D8BA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54135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74DFEE-5341-4F49-8A80-FE3A7C0D8BA1}" type="slidenum">
              <a:rPr lang="it-IT" smtClean="0"/>
              <a:t>9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00411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37848" y="6391657"/>
            <a:ext cx="3494314" cy="330466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effectLst/>
              </a:defRPr>
            </a:lvl1pPr>
          </a:lstStyle>
          <a:p>
            <a:fld id="{02D69960-4A88-47DF-8249-93C6E4520F51}" type="datetimeFigureOut">
              <a:rPr lang="it-IT" smtClean="0"/>
              <a:t>10/09/2026</a:t>
            </a:fld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8539B202-2952-4909-8BF4-DBCD6391B8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845526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69960-4A88-47DF-8249-93C6E4520F51}" type="datetimeFigureOut">
              <a:rPr lang="it-IT" smtClean="0"/>
              <a:t>10/09/2026</a:t>
            </a:fld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9B202-2952-4909-8BF4-DBCD6391B8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75758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02D69960-4A88-47DF-8249-93C6E4520F51}" type="datetimeFigureOut">
              <a:rPr lang="it-IT" smtClean="0"/>
              <a:t>10/09/2026</a:t>
            </a:fld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539B202-2952-4909-8BF4-DBCD6391B8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960765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2D69960-4A88-47DF-8249-93C6E4520F51}" type="datetimeFigureOut">
              <a:rPr lang="it-IT" smtClean="0"/>
              <a:t>10/09/2026</a:t>
            </a:fld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539B202-2952-4909-8BF4-DBCD6391B8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98103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2D69960-4A88-47DF-8249-93C6E4520F51}" type="datetimeFigureOut">
              <a:rPr lang="it-IT" smtClean="0"/>
              <a:t>10/09/2026</a:t>
            </a:fld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539B202-2952-4909-8BF4-DBCD6391B8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425549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sz="16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600" dirty="0"/>
            </a:lvl4pPr>
            <a:lvl5pPr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69960-4A88-47DF-8249-93C6E4520F51}" type="datetimeFigureOut">
              <a:rPr lang="it-IT" smtClean="0"/>
              <a:t>10/09/2026</a:t>
            </a:fld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9B202-2952-4909-8BF4-DBCD6391B8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965601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it-IT"/>
              <a:t>Fare clic per modificare gli stili del testo dello schema</a:t>
            </a:r>
          </a:p>
          <a:p>
            <a:pPr marL="228600" lvl="1" indent="-228600"/>
            <a:r>
              <a:rPr lang="it-IT"/>
              <a:t>Secondo livello</a:t>
            </a:r>
          </a:p>
          <a:p>
            <a:pPr marL="228600" lvl="2" indent="-228600"/>
            <a:r>
              <a:rPr lang="it-IT"/>
              <a:t>Terzo livello</a:t>
            </a:r>
          </a:p>
          <a:p>
            <a:pPr marL="228600" lvl="3" indent="-228600"/>
            <a:r>
              <a:rPr lang="it-IT"/>
              <a:t>Quarto livello</a:t>
            </a:r>
          </a:p>
          <a:p>
            <a:pPr marL="228600" lvl="4" indent="-228600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69960-4A88-47DF-8249-93C6E4520F51}" type="datetimeFigureOut">
              <a:rPr lang="it-IT" smtClean="0"/>
              <a:t>10/09/2026</a:t>
            </a:fld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9B202-2952-4909-8BF4-DBCD6391B8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322045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69960-4A88-47DF-8249-93C6E4520F51}" type="datetimeFigureOut">
              <a:rPr lang="it-IT" smtClean="0"/>
              <a:t>10/09/2026</a:t>
            </a:fld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9B202-2952-4909-8BF4-DBCD6391B8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44172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69960-4A88-47DF-8249-93C6E4520F51}" type="datetimeFigureOut">
              <a:rPr lang="it-IT" smtClean="0"/>
              <a:t>10/09/2026</a:t>
            </a:fld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9B202-2952-4909-8BF4-DBCD6391B8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92119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2D69960-4A88-47DF-8249-93C6E4520F51}" type="datetimeFigureOut">
              <a:rPr lang="it-IT" smtClean="0"/>
              <a:t>10/09/2026</a:t>
            </a:fld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9B202-2952-4909-8BF4-DBCD6391B8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6614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2D69960-4A88-47DF-8249-93C6E4520F51}" type="datetimeFigureOut">
              <a:rPr lang="it-IT" smtClean="0"/>
              <a:t>10/09/2026</a:t>
            </a:fld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9B202-2952-4909-8BF4-DBCD6391B8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026083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2D69960-4A88-47DF-8249-93C6E4520F51}" type="datetimeFigureOut">
              <a:rPr lang="it-IT" smtClean="0"/>
              <a:t>10/09/2026</a:t>
            </a:fld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fld id="{8539B202-2952-4909-8BF4-DBCD6391B837}" type="slidenum">
              <a:rPr lang="it-IT" smtClean="0"/>
              <a:t>‹N›</a:t>
            </a:fld>
            <a:endParaRPr lang="it-IT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930227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fld id="{02D69960-4A88-47DF-8249-93C6E4520F51}" type="datetimeFigureOut">
              <a:rPr lang="it-IT" smtClean="0"/>
              <a:t>10/09/2026</a:t>
            </a:fld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539B202-2952-4909-8BF4-DBCD6391B837}" type="slidenum">
              <a:rPr lang="it-IT" smtClean="0"/>
              <a:t>‹N›</a:t>
            </a:fld>
            <a:endParaRPr lang="it-IT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278808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it-IT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69960-4A88-47DF-8249-93C6E4520F51}" type="datetimeFigureOut">
              <a:rPr lang="it-IT" smtClean="0"/>
              <a:t>10/09/2026</a:t>
            </a:fld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539B202-2952-4909-8BF4-DBCD6391B8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9663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2D69960-4A88-47DF-8249-93C6E4520F51}" type="datetimeFigureOut">
              <a:rPr lang="it-IT" smtClean="0"/>
              <a:t>10/09/2026</a:t>
            </a:fld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9B202-2952-4909-8BF4-DBCD6391B8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236857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2D69960-4A88-47DF-8249-93C6E4520F51}" type="datetimeFigureOut">
              <a:rPr lang="it-IT" smtClean="0"/>
              <a:t>10/09/2026</a:t>
            </a:fld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fld id="{8539B202-2952-4909-8BF4-DBCD6391B837}" type="slidenum">
              <a:rPr lang="it-IT" smtClean="0"/>
              <a:t>‹N›</a:t>
            </a:fld>
            <a:endParaRPr lang="it-IT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382959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fld id="{02D69960-4A88-47DF-8249-93C6E4520F51}" type="datetimeFigureOut">
              <a:rPr lang="it-IT" smtClean="0"/>
              <a:t>10/09/2026</a:t>
            </a:fld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fld id="{8539B202-2952-4909-8BF4-DBCD6391B837}" type="slidenum">
              <a:rPr lang="it-IT" smtClean="0"/>
              <a:t>‹N›</a:t>
            </a:fld>
            <a:endParaRPr lang="it-IT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978600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69960-4A88-47DF-8249-93C6E4520F51}" type="datetimeFigureOut">
              <a:rPr lang="it-IT" smtClean="0"/>
              <a:t>10/09/2026</a:t>
            </a:fld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9B202-2952-4909-8BF4-DBCD6391B8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143443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69960-4A88-47DF-8249-93C6E4520F51}" type="datetimeFigureOut">
              <a:rPr lang="it-IT" smtClean="0"/>
              <a:t>10/09/2026</a:t>
            </a:fld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9B202-2952-4909-8BF4-DBCD6391B8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978595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69960-4A88-47DF-8249-93C6E4520F51}" type="datetimeFigureOut">
              <a:rPr lang="it-IT" smtClean="0"/>
              <a:t>10/09/2026</a:t>
            </a:fld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9B202-2952-4909-8BF4-DBCD6391B8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544631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69960-4A88-47DF-8249-93C6E4520F51}" type="datetimeFigureOut">
              <a:rPr lang="it-IT" smtClean="0"/>
              <a:t>10/09/2026</a:t>
            </a:fld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9B202-2952-4909-8BF4-DBCD6391B8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971239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2E940BF-81C2-1FFB-391F-670B2E738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2880" y="1645920"/>
            <a:ext cx="5420409" cy="4741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B763AB3-1DFB-9F9F-2339-33F3C49C8C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8400" y="1645920"/>
            <a:ext cx="5261184" cy="4741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69960-4A88-47DF-8249-93C6E4520F51}" type="datetimeFigureOut">
              <a:rPr lang="it-IT" smtClean="0"/>
              <a:t>10/09/2026</a:t>
            </a:fld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9B202-2952-4909-8BF4-DBCD6391B8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0553747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6A39E64-722E-F001-F641-974F522531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1631" y="1649451"/>
            <a:ext cx="5212080" cy="43434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B9C0BFD-5C7B-FA0D-DCE8-95D24728FEB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5352" y="1649451"/>
            <a:ext cx="5212080" cy="43434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69960-4A88-47DF-8249-93C6E4520F51}" type="datetimeFigureOut">
              <a:rPr lang="it-IT" smtClean="0"/>
              <a:t>10/09/2026</a:t>
            </a:fld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9B202-2952-4909-8BF4-DBCD6391B8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920731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69960-4A88-47DF-8249-93C6E4520F51}" type="datetimeFigureOut">
              <a:rPr lang="it-IT" smtClean="0"/>
              <a:t>10/09/2026</a:t>
            </a:fld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9B202-2952-4909-8BF4-DBCD6391B8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17308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69960-4A88-47DF-8249-93C6E4520F51}" type="datetimeFigureOut">
              <a:rPr lang="it-IT" smtClean="0"/>
              <a:t>10/09/2026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9B202-2952-4909-8BF4-DBCD6391B8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5110059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69960-4A88-47DF-8249-93C6E4520F51}" type="datetimeFigureOut">
              <a:rPr lang="it-IT" smtClean="0"/>
              <a:t>10/09/2026</a:t>
            </a:fld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9B202-2952-4909-8BF4-DBCD6391B8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265514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 dirty="0"/>
            </a:lvl1pPr>
            <a:lvl2pPr marL="228600" indent="0" algn="ctr">
              <a:buNone/>
              <a:defRPr lang="en-US" sz="1600" dirty="0"/>
            </a:lvl2pPr>
            <a:lvl3pPr marL="457200" indent="0" algn="ctr">
              <a:buNone/>
              <a:defRPr lang="en-US" sz="1600" dirty="0"/>
            </a:lvl3pPr>
            <a:lvl4pPr marL="685800" indent="0" algn="ctr">
              <a:buNone/>
              <a:defRPr lang="en-US" sz="1600" dirty="0"/>
            </a:lvl4pPr>
            <a:lvl5pPr marL="914400" indent="0" algn="ctr">
              <a:buNone/>
              <a:defRPr lang="en-US" sz="1600" dirty="0"/>
            </a:lvl5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69960-4A88-47DF-8249-93C6E4520F51}" type="datetimeFigureOut">
              <a:rPr lang="it-IT" smtClean="0"/>
              <a:t>10/09/2026</a:t>
            </a:fld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9B202-2952-4909-8BF4-DBCD6391B8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919347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02D69960-4A88-47DF-8249-93C6E4520F51}" type="datetimeFigureOut">
              <a:rPr lang="it-IT" smtClean="0"/>
              <a:t>10/09/2026</a:t>
            </a:fld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8539B202-2952-4909-8BF4-DBCD6391B8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4615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  <p:sldLayoutId id="2147483853" r:id="rId6"/>
    <p:sldLayoutId id="2147483854" r:id="rId7"/>
    <p:sldLayoutId id="2147483855" r:id="rId8"/>
    <p:sldLayoutId id="2147483856" r:id="rId9"/>
    <p:sldLayoutId id="2147483857" r:id="rId10"/>
    <p:sldLayoutId id="2147483858" r:id="rId11"/>
    <p:sldLayoutId id="2147483859" r:id="rId12"/>
    <p:sldLayoutId id="2147483860" r:id="rId13"/>
    <p:sldLayoutId id="2147483861" r:id="rId14"/>
    <p:sldLayoutId id="2147483862" r:id="rId15"/>
    <p:sldLayoutId id="2147483863" r:id="rId16"/>
    <p:sldLayoutId id="2147483864" r:id="rId17"/>
    <p:sldLayoutId id="2147483865" r:id="rId18"/>
    <p:sldLayoutId id="2147483866" r:id="rId19"/>
    <p:sldLayoutId id="2147483867" r:id="rId20"/>
    <p:sldLayoutId id="2147483868" r:id="rId21"/>
    <p:sldLayoutId id="2147483869" r:id="rId22"/>
    <p:sldLayoutId id="2147483870" r:id="rId23"/>
    <p:sldLayoutId id="2147483871" r:id="rId24"/>
    <p:sldLayoutId id="2147483872" r:id="rId25"/>
    <p:sldLayoutId id="2147483873" r:id="rId26"/>
    <p:sldLayoutId id="2147483874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0.png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110.png"/><Relationship Id="rId5" Type="http://schemas.openxmlformats.org/officeDocument/2006/relationships/image" Target="../media/image10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180.png"/><Relationship Id="rId4" Type="http://schemas.openxmlformats.org/officeDocument/2006/relationships/image" Target="../media/image17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0.png"/><Relationship Id="rId4" Type="http://schemas.openxmlformats.org/officeDocument/2006/relationships/image" Target="../media/image2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7" Type="http://schemas.openxmlformats.org/officeDocument/2006/relationships/image" Target="../media/image28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copertina"/>
          <p:cNvSpPr txBox="1"/>
          <p:nvPr/>
        </p:nvSpPr>
        <p:spPr>
          <a:xfrm>
            <a:off x="685800" y="1729000"/>
            <a:ext cx="10820400" cy="15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it-IT" sz="4000" b="1" dirty="0">
                <a:solidFill>
                  <a:srgbClr val="FFFFFF"/>
                </a:solidFill>
                <a:latin typeface="Cambria" panose="02020202020202020204" charset="0"/>
              </a:rPr>
              <a:t>Selezione dinamica del batch size in metodi di ottimizzazione</a:t>
            </a:r>
          </a:p>
        </p:txBody>
      </p:sp>
      <p:sp>
        <p:nvSpPr>
          <p:cNvPr id="7" name="Corso di laurea"/>
          <p:cNvSpPr/>
          <p:nvPr/>
        </p:nvSpPr>
        <p:spPr>
          <a:xfrm>
            <a:off x="685800" y="3429000"/>
            <a:ext cx="10820400" cy="500000"/>
          </a:xfrm>
          <a:prstGeom prst="rect">
            <a:avLst/>
          </a:prstGeom>
          <a:noFill/>
        </p:spPr>
        <p:txBody>
          <a:bodyPr anchor="t">
            <a:noAutofit/>
          </a:bodyPr>
          <a:lstStyle/>
          <a:p>
            <a:pPr algn="ctr"/>
            <a:r>
              <a:rPr lang="it-IT" sz="1800" dirty="0">
                <a:solidFill>
                  <a:srgbClr val="CADCFC"/>
                </a:solidFill>
                <a:latin typeface="Calibri" panose="020F0502020204030204" pitchFamily="34" charset="0"/>
              </a:rPr>
              <a:t>Corso di laurea in Scienze Matematiche per l’Intelligenza Artificiale, A.A. 2025/2026</a:t>
            </a:r>
          </a:p>
        </p:txBody>
      </p:sp>
      <p:sp>
        <p:nvSpPr>
          <p:cNvPr id="9" name="Autore"/>
          <p:cNvSpPr/>
          <p:nvPr/>
        </p:nvSpPr>
        <p:spPr>
          <a:xfrm>
            <a:off x="685800" y="4079000"/>
            <a:ext cx="10820400" cy="450000"/>
          </a:xfrm>
          <a:prstGeom prst="rect">
            <a:avLst/>
          </a:prstGeom>
          <a:noFill/>
        </p:spPr>
        <p:txBody>
          <a:bodyPr anchor="t">
            <a:noAutofit/>
          </a:bodyPr>
          <a:lstStyle/>
          <a:p>
            <a:pPr algn="ctr"/>
            <a:r>
              <a:rPr lang="it-IT" sz="1800" b="1" dirty="0">
                <a:solidFill>
                  <a:srgbClr val="FFFFFF"/>
                </a:solidFill>
                <a:latin typeface="Calibri" panose="020F0502020204030204" pitchFamily="34" charset="0"/>
              </a:rPr>
              <a:t>Alessandro Lo Curcio</a:t>
            </a:r>
          </a:p>
        </p:txBody>
      </p:sp>
      <p:sp>
        <p:nvSpPr>
          <p:cNvPr id="11" name="Relatore"/>
          <p:cNvSpPr/>
          <p:nvPr/>
        </p:nvSpPr>
        <p:spPr>
          <a:xfrm>
            <a:off x="685800" y="4679000"/>
            <a:ext cx="10820400" cy="450000"/>
          </a:xfrm>
          <a:prstGeom prst="rect">
            <a:avLst/>
          </a:prstGeom>
          <a:noFill/>
        </p:spPr>
        <p:txBody>
          <a:bodyPr anchor="t">
            <a:noAutofit/>
          </a:bodyPr>
          <a:lstStyle/>
          <a:p>
            <a:pPr algn="ctr"/>
            <a:r>
              <a:rPr lang="it-IT" sz="1800" dirty="0">
                <a:solidFill>
                  <a:srgbClr val="CADCFC"/>
                </a:solidFill>
                <a:latin typeface="Calibri" panose="020F0502020204030204" pitchFamily="34" charset="0"/>
              </a:rPr>
              <a:t>Relatore: Prof. Marco Sciandrone</a:t>
            </a:r>
          </a:p>
        </p:txBody>
      </p:sp>
    </p:spTree>
    <p:extLst>
      <p:ext uri="{BB962C8B-B14F-4D97-AF65-F5344CB8AC3E}">
        <p14:creationId xmlns:p14="http://schemas.microsoft.com/office/powerpoint/2010/main" val="1870273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9319B0-3607-ED31-5905-EBA9AA47BB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82880"/>
            <a:ext cx="11277600" cy="750000"/>
          </a:xfrm>
        </p:spPr>
        <p:txBody>
          <a:bodyPr anchor="t">
            <a:normAutofit/>
          </a:bodyPr>
          <a:lstStyle/>
          <a:p>
            <a:pPr algn="l"/>
            <a:r>
              <a:rPr lang="it-IT" sz="3200" b="1" dirty="0">
                <a:solidFill>
                  <a:srgbClr val="1E3A5F"/>
                </a:solidFill>
                <a:latin typeface="Cambria" panose="02020202020202020204" charset="0"/>
              </a:rPr>
              <a:t>Contesto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ottotitolo 2">
                <a:extLst>
                  <a:ext uri="{FF2B5EF4-FFF2-40B4-BE49-F238E27FC236}">
                    <a16:creationId xmlns:a16="http://schemas.microsoft.com/office/drawing/2014/main" id="{5D022B1E-8A3D-2290-5D22-B121BAEA6C0F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31959" y="1854199"/>
                <a:ext cx="11784596" cy="4805363"/>
              </a:xfrm>
            </p:spPr>
            <p:txBody>
              <a:bodyPr>
                <a:noAutofit/>
              </a:bodyPr>
              <a:lstStyle/>
              <a:p>
                <a:pPr marR="0" lvl="0" algn="l" rtl="0" fontAlgn="base">
                  <a:spcBef>
                    <a:spcPts val="0"/>
                  </a:spcBef>
                </a:pPr>
                <a:r>
                  <a:rPr lang="it-IT" sz="2000" b="0" i="0" u="none" strike="noStrike" spc="0" dirty="0">
                    <a:solidFill>
                      <a:schemeClr val="bg1"/>
                    </a:solidFill>
                    <a:effectLst/>
                    <a:latin typeface="Calibri" panose="02020502050305020303" pitchFamily="18" charset="0"/>
                  </a:rPr>
                  <a:t> Obiettivo: minimizzare la funzione di </a:t>
                </a:r>
                <a:r>
                  <a:rPr lang="it-IT" sz="2000" b="0" i="0" u="none" strike="noStrike" spc="0" dirty="0" err="1">
                    <a:solidFill>
                      <a:schemeClr val="bg1"/>
                    </a:solidFill>
                    <a:effectLst/>
                    <a:latin typeface="Calibri" panose="02020502050305020303" pitchFamily="18" charset="0"/>
                  </a:rPr>
                  <a:t>loss</a:t>
                </a:r>
                <a:r>
                  <a:rPr lang="it-IT" sz="2000" b="0" i="0" u="none" strike="noStrike" spc="0" dirty="0">
                    <a:solidFill>
                      <a:schemeClr val="bg1"/>
                    </a:solidFill>
                    <a:effectLst/>
                    <a:latin typeface="Calibri" panose="02020502050305020303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it-IT" sz="2000" b="0" i="1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it-IT" sz="2000" b="0" i="1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000" b="0" i="1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it-IT" sz="2000" b="0" i="1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IT" sz="2000" b="0" i="1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2000" b="0" i="1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t-IT" sz="2000" b="0" i="1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it-IT" sz="2000" b="0" i="1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it-IT" sz="2000" b="0" i="1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it-IT" sz="2000" b="0" i="1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it-IT" sz="2000" b="0" i="1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it-IT" sz="2000" b="0" i="1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</m:nary>
                    <m:d>
                      <m:dPr>
                        <m:ctrlPr>
                          <a:rPr lang="it-IT" sz="2000" b="0" i="1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000" b="0" i="1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it-IT" sz="2000" b="0" i="1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it-IT" sz="2000" b="0" i="1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it-IT" sz="2000" b="0" i="1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, </m:t>
                    </m:r>
                    <m:r>
                      <a:rPr lang="it-IT" sz="2000" b="0" i="1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𝑤</m:t>
                    </m:r>
                    <m:r>
                      <a:rPr lang="it-IT" sz="2000" b="0" i="1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it-IT" sz="2000" b="0" i="1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2000" b="0" i="1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it-IT" sz="2000" b="0" i="1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endParaRPr lang="it-IT" sz="2000" b="0" i="0" dirty="0">
                  <a:solidFill>
                    <a:schemeClr val="bg1"/>
                  </a:solidFill>
                  <a:effectLst/>
                  <a:latin typeface="Arial" panose="020B0604020202020204" pitchFamily="34" charset="0"/>
                </a:endParaRPr>
              </a:p>
              <a:p>
                <a:pPr lvl="0" algn="l" fontAlgn="base">
                  <a:spcBef>
                    <a:spcPts val="0"/>
                  </a:spcBef>
                </a:pPr>
                <a:r>
                  <a:rPr lang="it-IT" sz="2000" b="0" i="0" u="none" strike="noStrike" spc="0" dirty="0">
                    <a:solidFill>
                      <a:schemeClr val="bg1"/>
                    </a:solidFill>
                    <a:effectLst/>
                    <a:latin typeface="Calibri" panose="02020502050305020303" pitchFamily="18" charset="0"/>
                  </a:rPr>
                  <a:t> Con N ≈ 10^6 – 10^9 esempi e m grande: il gradiente completo di J </a:t>
                </a:r>
                <a:r>
                  <a:rPr lang="it-IT" sz="20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costa 𝑂(N𝑚)</a:t>
                </a:r>
                <a:r>
                  <a:rPr lang="it-IT" sz="2000" b="1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 </a:t>
                </a:r>
                <a:r>
                  <a:rPr lang="it-IT" sz="2000" b="0" i="0" u="none" strike="noStrike" spc="0" dirty="0">
                    <a:solidFill>
                      <a:schemeClr val="bg1"/>
                    </a:solidFill>
                    <a:effectLst/>
                    <a:latin typeface="Calibri" panose="02020502050305020303" pitchFamily="18" charset="0"/>
                  </a:rPr>
                  <a:t>per iterazione: proibitivo</a:t>
                </a:r>
                <a:r>
                  <a:rPr lang="it-IT" sz="2000" b="0" i="0" dirty="0">
                    <a:solidFill>
                      <a:schemeClr val="bg1"/>
                    </a:solidFill>
                    <a:effectLst/>
                    <a:latin typeface="Calibri" panose="02020502050305020303" pitchFamily="18" charset="0"/>
                  </a:rPr>
                  <a:t>​</a:t>
                </a:r>
              </a:p>
              <a:p>
                <a:pPr lvl="0" algn="l" fontAlgn="base">
                  <a:spcBef>
                    <a:spcPts val="0"/>
                  </a:spcBef>
                </a:pPr>
                <a:r>
                  <a:rPr lang="it-IT" sz="2000" b="0" i="0" dirty="0">
                    <a:solidFill>
                      <a:schemeClr val="bg1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r>
                  <a:rPr lang="it-IT" sz="2000" b="0" i="0" dirty="0">
                    <a:solidFill>
                      <a:schemeClr val="bg1"/>
                    </a:solidFill>
                    <a:effectLst/>
                    <a:latin typeface="Calibri" panose="02020502050305020303" pitchFamily="18" charset="0"/>
                  </a:rPr>
                  <a:t>SGD (Robbins–Monro, </a:t>
                </a:r>
                <a:r>
                  <a:rPr lang="it-IT" sz="20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1951)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it-IT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it-IT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f>
                      <m:fPr>
                        <m:ctrlP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</m:nary>
                    <m:r>
                      <m:rPr>
                        <m:sty m:val="p"/>
                      </m:rPr>
                      <a:rPr lang="it-IT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ℓ</m:t>
                    </m:r>
                    <m:d>
                      <m:dPr>
                        <m:ctrlP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it-IT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endParaRPr lang="it-IT" sz="2000" b="0" i="0" u="none" strike="noStrike" spc="0" dirty="0">
                  <a:solidFill>
                    <a:schemeClr val="bg1"/>
                  </a:solidFill>
                  <a:effectLst/>
                  <a:latin typeface="Calibri" panose="02020502050305020303" pitchFamily="18" charset="0"/>
                </a:endParaRPr>
              </a:p>
              <a:p>
                <a:pPr lvl="0" algn="l" fontAlgn="base">
                  <a:spcBef>
                    <a:spcPts val="0"/>
                  </a:spcBef>
                </a:pPr>
                <a:r>
                  <a:rPr lang="it-IT" sz="20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 </a:t>
                </a:r>
                <a:r>
                  <a:rPr lang="it-IT" sz="2000" i="0" u="none" strike="noStrike" spc="0" dirty="0">
                    <a:solidFill>
                      <a:schemeClr val="bg1"/>
                    </a:solidFill>
                    <a:effectLst/>
                    <a:latin typeface="Calibri" panose="02020502050305020303" pitchFamily="18" charset="0"/>
                  </a:rPr>
                  <a:t>Mini-batch Sₖ di dimensione nₖ: stima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b="0" i="0" u="none" strike="noStrike" spc="0" dirty="0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sz="2000" b="0" i="0" u="none" strike="noStrike" spc="0" dirty="0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sz="2000" b="0" i="0" u="none" strike="noStrike" spc="0" dirty="0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it-IT" sz="2000" b="0" i="0" u="none" strike="noStrike" spc="0" dirty="0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it-IT" sz="2000" b="0" i="0" u="none" strike="noStrike" spc="0" dirty="0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it-IT" sz="2000" b="0" i="0" u="none" strike="noStrike" spc="0" dirty="0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sz="2000" b="0" i="0" u="none" strike="noStrike" spc="0" dirty="0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J</m:t>
                        </m:r>
                      </m:e>
                      <m:sub>
                        <m:sSub>
                          <m:sSubPr>
                            <m:ctrlPr>
                              <a:rPr lang="it-IT" sz="2000" b="0" i="0" u="none" strike="noStrike" spc="0" dirty="0" smtClean="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000" b="0" i="0" u="none" strike="noStrike" spc="0" dirty="0" smtClean="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𝒮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it-IT" sz="2000" b="0" i="0" u="none" strike="noStrike" spc="0" dirty="0" smtClean="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it-IT" sz="2000" i="1" u="none" strike="noStrike" spc="0" dirty="0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sz="2000" b="0" i="0" u="none" strike="noStrike" spc="0" dirty="0" smtClean="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it-IT" sz="2000" b="0" i="0" u="none" strike="noStrike" spc="0" dirty="0" smtClean="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it-IT" sz="2000" b="0" i="0" u="none" strike="noStrike" spc="0" dirty="0" smtClean="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</m:e>
                    </m:d>
                    <m:r>
                      <a:rPr lang="it-IT" sz="2000" b="0" i="0" u="none" strike="noStrike" spc="0" dirty="0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IT" sz="2000" b="0" i="0" u="none" strike="noStrike" spc="0" dirty="0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2000" b="0" i="0" u="none" strike="noStrike" spc="0" dirty="0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it-IT" sz="2000" b="0" i="0" u="none" strike="noStrike" spc="0" dirty="0" smtClean="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it-IT" sz="2000" b="0" i="0" u="none" strike="noStrike" spc="0" dirty="0" smtClean="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it-IT" sz="2000" b="0" i="0" u="none" strike="noStrike" spc="0" dirty="0" smtClean="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it-IT" sz="2000" b="0" i="0" u="none" strike="noStrike" spc="0" dirty="0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it-IT" sz="2000" b="0" i="0" u="none" strike="noStrike" spc="0" dirty="0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i</m:t>
                        </m:r>
                        <m:r>
                          <a:rPr lang="it-IT" sz="2000" b="0" i="0" u="none" strike="noStrike" spc="0" dirty="0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it-IT" sz="2000" b="0" i="0" u="none" strike="noStrike" spc="0" dirty="0" smtClean="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000" b="0" i="0" u="none" strike="noStrike" spc="0" dirty="0" smtClean="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𝒮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it-IT" sz="2000" b="0" i="0" u="none" strike="noStrike" spc="0" dirty="0" smtClean="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</m:sub>
                      <m:sup/>
                      <m:e>
                        <m:r>
                          <m:rPr>
                            <m:sty m:val="p"/>
                          </m:rPr>
                          <a:rPr lang="it-IT" sz="2000" b="0" i="0" u="none" strike="noStrike" spc="0" dirty="0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</m:nary>
                    <m:r>
                      <m:rPr>
                        <m:sty m:val="p"/>
                      </m:rPr>
                      <a:rPr lang="it-IT" sz="2000" b="0" i="0" u="none" strike="noStrike" spc="0" dirty="0" smtClean="0">
                        <a:solidFill>
                          <a:schemeClr val="bg1"/>
                        </a:solidFill>
                        <a:effectLst/>
                        <a:latin typeface="Cambria Math" panose="02040503050406030204" pitchFamily="18" charset="0"/>
                      </a:rPr>
                      <m:t>ℓ</m:t>
                    </m:r>
                    <m:d>
                      <m:dPr>
                        <m:ctrlPr>
                          <a:rPr lang="it-IT" sz="2000" i="1" u="none" strike="noStrike" spc="0" dirty="0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sz="2000" b="0" i="0" u="none" strike="noStrike" spc="0" dirty="0" smtClean="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it-IT" sz="2000" b="0" i="0" u="none" strike="noStrike" spc="0" dirty="0" smtClean="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it-IT" sz="2000" b="0" i="0" u="none" strike="noStrike" spc="0" dirty="0" smtClean="0">
                                <a:solidFill>
                                  <a:schemeClr val="bg1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  <m:r>
                          <a:rPr lang="it-IT" sz="2000" b="0" i="0" u="none" strike="noStrike" spc="0" dirty="0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it-IT" sz="2000" b="0" i="0" u="none" strike="noStrike" spc="0" dirty="0" smtClean="0">
                            <a:solidFill>
                              <a:schemeClr val="bg1"/>
                            </a:solidFill>
                            <a:effectLst/>
                            <a:latin typeface="Cambria Math" panose="02040503050406030204" pitchFamily="18" charset="0"/>
                          </a:rPr>
                          <m:t>i</m:t>
                        </m:r>
                      </m:e>
                    </m:d>
                  </m:oMath>
                </a14:m>
                <a:r>
                  <a:rPr lang="it-IT" sz="2000" i="0" u="none" strike="noStrike" spc="0" dirty="0">
                    <a:solidFill>
                      <a:schemeClr val="bg1"/>
                    </a:solidFill>
                    <a:effectLst/>
                    <a:latin typeface="Calibri" panose="02020502050305020303" pitchFamily="18" charset="0"/>
                  </a:rPr>
                  <a:t> costo 𝑂(𝑛ₖ𝑚). Se 𝑛ₖ ≪ 𝑁 le iterazioni sono economiche.</a:t>
                </a:r>
                <a:r>
                  <a:rPr lang="it-IT" sz="2000" i="0" dirty="0">
                    <a:solidFill>
                      <a:schemeClr val="bg1"/>
                    </a:solidFill>
                    <a:effectLst/>
                    <a:latin typeface="Calibri" panose="02020502050305020303" pitchFamily="18" charset="0"/>
                  </a:rPr>
                  <a:t>​</a:t>
                </a:r>
                <a:endParaRPr lang="it-IT" sz="2000" i="0" dirty="0">
                  <a:solidFill>
                    <a:schemeClr val="bg1"/>
                  </a:solidFill>
                  <a:effectLst/>
                  <a:latin typeface="Arial" panose="020B0604020202020204" pitchFamily="34" charset="0"/>
                </a:endParaRPr>
              </a:p>
              <a:p>
                <a:pPr marR="0" lvl="0" algn="l" rtl="0" fontAlgn="base">
                  <a:spcBef>
                    <a:spcPts val="0"/>
                  </a:spcBef>
                </a:pPr>
                <a:r>
                  <a:rPr lang="it-IT" sz="2000" b="0" i="0" u="none" strike="noStrike" spc="0" dirty="0">
                    <a:solidFill>
                      <a:schemeClr val="bg1"/>
                    </a:solidFill>
                    <a:effectLst/>
                    <a:latin typeface="Calibri" panose="02020502050305020303" pitchFamily="18" charset="0"/>
                  </a:rPr>
                  <a:t> Compromesso classico (</a:t>
                </a:r>
                <a:r>
                  <a:rPr lang="it-IT" sz="2000" b="0" i="0" u="none" strike="noStrike" spc="0" dirty="0" err="1">
                    <a:solidFill>
                      <a:schemeClr val="bg1"/>
                    </a:solidFill>
                    <a:effectLst/>
                    <a:latin typeface="Calibri" panose="02020502050305020303" pitchFamily="18" charset="0"/>
                  </a:rPr>
                  <a:t>Bottou</a:t>
                </a:r>
                <a:r>
                  <a:rPr lang="it-IT" sz="2000" b="0" i="0" u="none" strike="noStrike" spc="0" dirty="0">
                    <a:solidFill>
                      <a:schemeClr val="bg1"/>
                    </a:solidFill>
                    <a:effectLst/>
                    <a:latin typeface="Calibri" panose="02020502050305020303" pitchFamily="18" charset="0"/>
                  </a:rPr>
                  <a:t>–Bousquet, 2008): batch piccolo = stima rumorosa; batch grande = stima accurata ma costo proporzionale alla dimensione. </a:t>
                </a:r>
                <a:r>
                  <a:rPr lang="it-IT" sz="2000" b="0" i="0" dirty="0">
                    <a:solidFill>
                      <a:schemeClr val="bg1"/>
                    </a:solidFill>
                    <a:effectLst/>
                    <a:latin typeface="Calibri" panose="02020502050305020303" pitchFamily="18" charset="0"/>
                  </a:rPr>
                  <a:t>​</a:t>
                </a:r>
                <a:endParaRPr lang="it-IT" sz="2000" b="0" i="0" dirty="0">
                  <a:solidFill>
                    <a:schemeClr val="bg1"/>
                  </a:solidFill>
                  <a:effectLst/>
                  <a:latin typeface="Arial" panose="020B0604020202020204" pitchFamily="34" charset="0"/>
                </a:endParaRPr>
              </a:p>
              <a:p>
                <a:pPr lvl="0" algn="l" fontAlgn="base">
                  <a:spcBef>
                    <a:spcPts val="0"/>
                  </a:spcBef>
                </a:pPr>
                <a:r>
                  <a:rPr lang="it-IT" sz="2000" b="0" i="0" u="none" strike="noStrike" spc="0" dirty="0">
                    <a:solidFill>
                      <a:schemeClr val="bg1"/>
                    </a:solidFill>
                    <a:effectLst/>
                    <a:latin typeface="Calibri" panose="02020502050305020303" pitchFamily="18" charset="0"/>
                  </a:rPr>
                  <a:t> Nei metodi classici 𝑛ₖ è fissata a priori; questa tesi analizza la proposta di renderla dinamica durante le iterazioni (Byrd, Chin, </a:t>
                </a:r>
                <a:r>
                  <a:rPr lang="it-IT" sz="2000" b="0" i="0" u="none" strike="noStrike" spc="0" dirty="0" err="1">
                    <a:solidFill>
                      <a:schemeClr val="bg1"/>
                    </a:solidFill>
                    <a:effectLst/>
                    <a:latin typeface="Calibri" panose="02020502050305020303" pitchFamily="18" charset="0"/>
                  </a:rPr>
                  <a:t>Nocedal</a:t>
                </a:r>
                <a:r>
                  <a:rPr lang="it-IT" sz="2000" b="0" i="0" u="none" strike="noStrike" spc="0" dirty="0">
                    <a:solidFill>
                      <a:schemeClr val="bg1"/>
                    </a:solidFill>
                    <a:effectLst/>
                    <a:latin typeface="Calibri" panose="02020502050305020303" pitchFamily="18" charset="0"/>
                  </a:rPr>
                  <a:t> e </a:t>
                </a:r>
                <a:r>
                  <a:rPr lang="it-IT" sz="2000" b="0" i="0" u="none" strike="noStrike" spc="0" dirty="0" err="1">
                    <a:solidFill>
                      <a:schemeClr val="bg1"/>
                    </a:solidFill>
                    <a:effectLst/>
                    <a:latin typeface="Calibri" panose="02020502050305020303" pitchFamily="18" charset="0"/>
                  </a:rPr>
                  <a:t>Wu</a:t>
                </a:r>
                <a:r>
                  <a:rPr lang="it-IT" sz="2000" b="0" i="0" u="none" strike="noStrike" spc="0" dirty="0">
                    <a:solidFill>
                      <a:schemeClr val="bg1"/>
                    </a:solidFill>
                    <a:effectLst/>
                    <a:latin typeface="Calibri" panose="02020502050305020303" pitchFamily="18" charset="0"/>
                  </a:rPr>
                  <a:t>, 2012). </a:t>
                </a:r>
                <a:r>
                  <a:rPr lang="it-IT" sz="2000" b="0" i="0" dirty="0">
                    <a:solidFill>
                      <a:schemeClr val="bg1"/>
                    </a:solidFill>
                    <a:effectLst/>
                    <a:latin typeface="Calibri" panose="02020502050305020303" pitchFamily="18" charset="0"/>
                  </a:rPr>
                  <a:t>​</a:t>
                </a:r>
                <a:endParaRPr lang="it-IT" sz="2000" i="0" dirty="0">
                  <a:solidFill>
                    <a:schemeClr val="bg1"/>
                  </a:solidFill>
                  <a:latin typeface="Calibri" panose="02020502050305020303" pitchFamily="18" charset="0"/>
                </a:endParaRPr>
              </a:p>
              <a:p>
                <a:pPr lvl="0" algn="l" fontAlgn="base">
                  <a:spcBef>
                    <a:spcPts val="0"/>
                  </a:spcBef>
                </a:pPr>
                <a:endParaRPr lang="it-IT" sz="2000" i="0" dirty="0">
                  <a:solidFill>
                    <a:schemeClr val="bg1"/>
                  </a:solidFill>
                  <a:latin typeface="Calibri" panose="02020502050305020303" pitchFamily="18" charset="0"/>
                </a:endParaRPr>
              </a:p>
              <a:p>
                <a:pPr lvl="0" algn="l" fontAlgn="base">
                  <a:spcBef>
                    <a:spcPts val="0"/>
                  </a:spcBef>
                </a:pPr>
                <a:endParaRPr lang="it-IT" sz="2000" b="0" i="0" dirty="0">
                  <a:solidFill>
                    <a:schemeClr val="bg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Sottotitolo 2">
                <a:extLst>
                  <a:ext uri="{FF2B5EF4-FFF2-40B4-BE49-F238E27FC236}">
                    <a16:creationId xmlns:a16="http://schemas.microsoft.com/office/drawing/2014/main" id="{5D022B1E-8A3D-2290-5D22-B121BAEA6C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31959" y="1854199"/>
                <a:ext cx="11784596" cy="4805363"/>
              </a:xfrm>
              <a:blipFill>
                <a:blip r:embed="rId2"/>
                <a:stretch>
                  <a:fillRect l="-517" t="-761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8864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E446E20-A7FE-B62C-BB6E-4E4708CA1D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82880"/>
            <a:ext cx="11277600" cy="850000"/>
          </a:xfrm>
        </p:spPr>
        <p:txBody>
          <a:bodyPr anchor="t">
            <a:normAutofit/>
          </a:bodyPr>
          <a:lstStyle/>
          <a:p>
            <a:pPr algn="l"/>
            <a:r>
              <a:rPr lang="it-IT" sz="2800" b="1" dirty="0">
                <a:solidFill>
                  <a:srgbClr val="1E3A5F"/>
                </a:solidFill>
                <a:latin typeface="Cambria" panose="02020202020202020204" charset="0"/>
              </a:rPr>
              <a:t>Metodi a varianza ridotta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ottotitolo 2">
                <a:extLst>
                  <a:ext uri="{FF2B5EF4-FFF2-40B4-BE49-F238E27FC236}">
                    <a16:creationId xmlns:a16="http://schemas.microsoft.com/office/drawing/2014/main" id="{07D7FA1E-585B-2287-9B6E-77BF4BCF0BE6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258872" y="1156395"/>
                <a:ext cx="8640683" cy="3859225"/>
              </a:xfrm>
            </p:spPr>
            <p:txBody>
              <a:bodyPr>
                <a:noAutofit/>
              </a:bodyPr>
              <a:lstStyle/>
              <a:p>
                <a:pPr algn="l"/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SVRG (</a:t>
                </a:r>
                <a:r>
                  <a:rPr lang="it-IT" sz="1800" dirty="0" err="1">
                    <a:solidFill>
                      <a:schemeClr val="bg1"/>
                    </a:solidFill>
                    <a:latin typeface="Calibri" panose="02020502050305020303" pitchFamily="18" charset="0"/>
                  </a:rPr>
                  <a:t>Stochastic</a:t>
                </a:r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 </a:t>
                </a:r>
                <a:r>
                  <a:rPr lang="it-IT" sz="1800" dirty="0" err="1">
                    <a:solidFill>
                      <a:schemeClr val="bg1"/>
                    </a:solidFill>
                    <a:latin typeface="Calibri" panose="02020502050305020303" pitchFamily="18" charset="0"/>
                  </a:rPr>
                  <a:t>Variance</a:t>
                </a:r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 </a:t>
                </a:r>
                <a:r>
                  <a:rPr lang="it-IT" sz="1800" dirty="0" err="1">
                    <a:solidFill>
                      <a:schemeClr val="bg1"/>
                    </a:solidFill>
                    <a:latin typeface="Calibri" panose="02020502050305020303" pitchFamily="18" charset="0"/>
                  </a:rPr>
                  <a:t>Reduced</a:t>
                </a:r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 </a:t>
                </a:r>
                <a:r>
                  <a:rPr lang="it-IT" sz="1800" dirty="0" err="1">
                    <a:solidFill>
                      <a:schemeClr val="bg1"/>
                    </a:solidFill>
                    <a:latin typeface="Calibri" panose="02020502050305020303" pitchFamily="18" charset="0"/>
                  </a:rPr>
                  <a:t>Gradient</a:t>
                </a:r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; Johnson–Zhang, 2013) e SAGA (metodo di riduzione della varianza di Defazio–Bach–Lacoste-Julien, 2014): SGD + correzione costruita su quantità globali.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it-IT" sz="1800" i="1" dirty="0" err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800" i="1" dirty="0" err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it-IT" sz="1800" i="1" dirty="0" err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it-IT" sz="1800" i="0" dirty="0" err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1800" i="1" dirty="0" err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𝛻</m:t>
                      </m:r>
                      <m:r>
                        <m:rPr>
                          <m:sty m:val="p"/>
                        </m:rPr>
                        <a:rPr lang="it-IT" sz="1800" i="0" dirty="0" err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ℓ</m:t>
                      </m:r>
                      <m:d>
                        <m:dPr>
                          <m:ctrlPr>
                            <a:rPr lang="it-IT" sz="1800" i="1" dirty="0" err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1800" i="1" dirty="0" err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800" i="1" dirty="0" err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it-IT" sz="1800" i="1" dirty="0" err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it-IT" sz="1800" i="0" dirty="0" err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it-IT" sz="1800" i="1" dirty="0" err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800" i="1" dirty="0" err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it-IT" sz="1800" i="1" dirty="0" err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it-IT" sz="1800" i="0" dirty="0" err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it-IT" sz="1800" i="1" dirty="0" err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800" i="1" dirty="0" err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it-IT" sz="1800" i="1" dirty="0" err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it-IT" sz="1800" i="0" dirty="0" err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it-IT" sz="1800" i="0" dirty="0" err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1800" i="1" dirty="0" err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1800" i="1" dirty="0" err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800" i="1" dirty="0" err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it-IT" sz="1800" i="1" dirty="0" err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it-IT" sz="1800" i="0" dirty="0" err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it-IT" sz="1800" b="0" i="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it-IT" sz="1800" i="0" dirty="0" err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1800" i="1" dirty="0" err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1800" i="1" dirty="0" err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800" i="1" dirty="0" err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it-IT" sz="1800" i="1" dirty="0" err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it-IT" sz="1800" i="0" dirty="0" err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1800" i="1" dirty="0" err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𝛻</m:t>
                      </m:r>
                      <m:r>
                        <a:rPr lang="it-IT" sz="1800" i="1" dirty="0" err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it-IT" sz="1800" i="1" dirty="0" err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1800" i="1" dirty="0" err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800" i="1" dirty="0" err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it-IT" sz="1800" i="1" dirty="0" err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it-IT" sz="1800" dirty="0">
                  <a:solidFill>
                    <a:schemeClr val="bg1"/>
                  </a:solidFill>
                  <a:latin typeface="Calibri" panose="02020502050305020303" pitchFamily="18" charset="0"/>
                </a:endParaRPr>
              </a:p>
              <a:p>
                <a:pPr algn="l"/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Se la correzione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it-IT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 è correlata al rumore del gradiente stocastico, la varianza di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it-IT" sz="1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 si riduce: si parla di </a:t>
                </a:r>
                <a:r>
                  <a:rPr lang="it-IT" sz="1800" dirty="0" err="1">
                    <a:solidFill>
                      <a:schemeClr val="bg1"/>
                    </a:solidFill>
                    <a:latin typeface="Calibri" panose="02020502050305020303" pitchFamily="18" charset="0"/>
                  </a:rPr>
                  <a:t>variance</a:t>
                </a:r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 </a:t>
                </a:r>
                <a:r>
                  <a:rPr lang="it-IT" sz="1800" dirty="0" err="1">
                    <a:solidFill>
                      <a:schemeClr val="bg1"/>
                    </a:solidFill>
                    <a:latin typeface="Calibri" panose="02020502050305020303" pitchFamily="18" charset="0"/>
                  </a:rPr>
                  <a:t>reduction</a:t>
                </a:r>
                <a:endParaRPr lang="it-IT" sz="1800" dirty="0">
                  <a:solidFill>
                    <a:schemeClr val="bg1"/>
                  </a:solidFill>
                  <a:latin typeface="Calibri" panose="02020502050305020303" pitchFamily="18" charset="0"/>
                </a:endParaRPr>
              </a:p>
              <a:p>
                <a:pPr algn="l"/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SVRG: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i="1" dirty="0" err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i="1" dirty="0" err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it-IT" sz="1800" i="1" dirty="0" err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it-IT" sz="1800" i="0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sz="180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𝛻</m:t>
                    </m:r>
                    <m:r>
                      <m:rPr>
                        <m:sty m:val="p"/>
                      </m:rPr>
                      <a:rPr lang="it-IT" sz="1800" i="0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ℓ</m:t>
                    </m:r>
                    <m:d>
                      <m:dPr>
                        <m:ctrlPr>
                          <a:rPr lang="it-IT" sz="1800" i="1" dirty="0" err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sz="1800" i="1" dirty="0" err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800" i="1" dirty="0" err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it-IT" sz="1800" i="1" dirty="0" err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it-IT" sz="1800" i="0" dirty="0" err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it-IT" sz="1800" i="1" dirty="0" err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800" i="1" dirty="0" err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it-IT" sz="1800" i="1" dirty="0" err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it-IT" sz="1800" i="0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it-IT" sz="180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𝛻</m:t>
                    </m:r>
                    <m:r>
                      <m:rPr>
                        <m:sty m:val="p"/>
                      </m:rPr>
                      <a:rPr lang="it-IT" sz="1800" i="0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ℓ</m:t>
                    </m:r>
                    <m:d>
                      <m:dPr>
                        <m:ctrlPr>
                          <a:rPr lang="it-IT" sz="1800" i="1" dirty="0" err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˜"/>
                            <m:ctrlPr>
                              <a:rPr lang="it-IT" sz="1800" i="1" dirty="0" err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sz="1800" i="1" dirty="0" err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  <m:r>
                          <a:rPr lang="it-IT" sz="1800" i="0" dirty="0" err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it-IT" sz="1800" i="1" dirty="0" err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800" i="1" dirty="0" err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it-IT" sz="1800" i="1" dirty="0" err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it-IT" sz="1800" i="0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it-IT" sz="180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𝛻</m:t>
                    </m:r>
                    <m:r>
                      <a:rPr lang="it-IT" sz="180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it-IT" sz="1800" i="1" dirty="0" err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˜"/>
                            <m:ctrlPr>
                              <a:rPr lang="it-IT" sz="1800" i="1" dirty="0" err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sz="1800" i="1" dirty="0" err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</m:d>
                  </m:oMath>
                </a14:m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 </a:t>
                </a:r>
              </a:p>
              <a:p>
                <a:pPr algn="l"/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Finché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it-IT" sz="1800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it-IT" sz="1800" b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≈</m:t>
                    </m:r>
                    <m:acc>
                      <m:accPr>
                        <m:chr m:val="̃"/>
                        <m:ctrlPr>
                          <a:rPr lang="it-IT" sz="1800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sz="1800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, per la regolarità dei gradienti, </a:t>
                </a:r>
                <a14:m>
                  <m:oMath xmlns:m="http://schemas.openxmlformats.org/officeDocument/2006/math">
                    <m:r>
                      <a:rPr lang="it-IT" sz="1800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𝛻</m:t>
                    </m:r>
                    <m:r>
                      <m:rPr>
                        <m:sty m:val="p"/>
                      </m:rPr>
                      <a:rPr lang="it-IT" sz="1800" b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ℓ</m:t>
                    </m:r>
                    <m:d>
                      <m:dPr>
                        <m:sepChr m:val=";"/>
                        <m:ctrlPr>
                          <a:rPr lang="it-IT" sz="1800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sz="1800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800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it-IT" sz="1800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it-IT" sz="1800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800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it-IT" sz="1800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it-IT" sz="1800" b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it-IT" sz="1800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𝛻</m:t>
                    </m:r>
                    <m:r>
                      <m:rPr>
                        <m:sty m:val="p"/>
                      </m:rPr>
                      <a:rPr lang="it-IT" sz="1800" b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ℓ</m:t>
                    </m:r>
                    <m:d>
                      <m:dPr>
                        <m:sepChr m:val=";"/>
                        <m:ctrlPr>
                          <a:rPr lang="it-IT" sz="1800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̃"/>
                            <m:ctrlPr>
                              <a:rPr lang="it-IT" sz="1800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sz="1800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  <m:e>
                        <m:sSub>
                          <m:sSubPr>
                            <m:ctrlPr>
                              <a:rPr lang="it-IT" sz="1800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800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it-IT" sz="1800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. I due termini stocastici si elidono e resta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it-IT" sz="1800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it-IT" sz="1800" b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it-IT" sz="1800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𝛻</m:t>
                    </m:r>
                    <m:r>
                      <a:rPr lang="it-IT" sz="1800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it-IT" sz="1800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̃"/>
                            <m:ctrlPr>
                              <a:rPr lang="it-IT" sz="1800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sz="1800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e>
                    </m:d>
                  </m:oMath>
                </a14:m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: poca varianza.</a:t>
                </a:r>
              </a:p>
              <a:p>
                <a:pPr algn="l"/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SAGA (</a:t>
                </a:r>
                <a:r>
                  <a:rPr lang="it-IT" sz="1800" dirty="0" err="1">
                    <a:solidFill>
                      <a:schemeClr val="bg1"/>
                    </a:solidFill>
                    <a:latin typeface="Calibri" panose="02020502050305020303" pitchFamily="18" charset="0"/>
                  </a:rPr>
                  <a:t>Stochastic</a:t>
                </a:r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 </a:t>
                </a:r>
                <a:r>
                  <a:rPr lang="it-IT" sz="1800" dirty="0" err="1">
                    <a:solidFill>
                      <a:schemeClr val="bg1"/>
                    </a:solidFill>
                    <a:latin typeface="Calibri" panose="02020502050305020303" pitchFamily="18" charset="0"/>
                  </a:rPr>
                  <a:t>Average</a:t>
                </a:r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 </a:t>
                </a:r>
                <a:r>
                  <a:rPr lang="it-IT" sz="1800" dirty="0" err="1">
                    <a:solidFill>
                      <a:schemeClr val="bg1"/>
                    </a:solidFill>
                    <a:latin typeface="Calibri" panose="02020502050305020303" pitchFamily="18" charset="0"/>
                  </a:rPr>
                  <a:t>Gradient</a:t>
                </a:r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i="1" dirty="0" err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i="1" dirty="0" err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it-IT" sz="1800" i="1" dirty="0" err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it-IT" sz="1800" i="0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sz="1800" i="1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𝛻</m:t>
                    </m:r>
                    <m:r>
                      <m:rPr>
                        <m:sty m:val="p"/>
                      </m:rPr>
                      <a:rPr lang="it-IT" sz="1800" i="0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ℓ</m:t>
                    </m:r>
                    <m:d>
                      <m:dPr>
                        <m:ctrlPr>
                          <a:rPr lang="it-IT" sz="1800" i="1" dirty="0" err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sz="1800" i="1" dirty="0" err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800" i="1" dirty="0" err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it-IT" sz="1800" i="1" dirty="0" err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it-IT" sz="1800" i="0" dirty="0" err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it-IT" sz="1800" i="1" dirty="0" err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800" i="1" dirty="0" err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it-IT" sz="1800" i="1" dirty="0" err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it-IT" sz="1800" i="0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it-IT" sz="1800" i="1" dirty="0" err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1800" i="1" dirty="0" err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d>
                          <m:dPr>
                            <m:ctrlPr>
                              <a:rPr lang="it-IT" sz="1800" i="1" dirty="0" err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it-IT" sz="1800" i="1" dirty="0" err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1800" i="1" dirty="0" err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it-IT" sz="1800" i="1" dirty="0" err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sup>
                    </m:sSup>
                    <m:r>
                      <a:rPr lang="it-IT" sz="1800" i="0" dirty="0" err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it-IT" sz="1800" i="1" dirty="0" err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sz="1800" i="1" dirty="0" err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acc>
                  </m:oMath>
                </a14:m>
                <a:endParaRPr lang="it-IT" sz="1800" dirty="0">
                  <a:solidFill>
                    <a:schemeClr val="bg1"/>
                  </a:solidFill>
                  <a:latin typeface="Calibri" panose="02020502050305020303" pitchFamily="18" charset="0"/>
                </a:endParaRPr>
              </a:p>
            </p:txBody>
          </p:sp>
        </mc:Choice>
        <mc:Fallback xmlns="">
          <p:sp>
            <p:nvSpPr>
              <p:cNvPr id="3" name="Sottotitolo 2">
                <a:extLst>
                  <a:ext uri="{FF2B5EF4-FFF2-40B4-BE49-F238E27FC236}">
                    <a16:creationId xmlns:a16="http://schemas.microsoft.com/office/drawing/2014/main" id="{07D7FA1E-585B-2287-9B6E-77BF4BCF0B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258872" y="1156395"/>
                <a:ext cx="8640683" cy="3859225"/>
              </a:xfrm>
              <a:blipFill>
                <a:blip r:embed="rId2"/>
                <a:stretch>
                  <a:fillRect l="-564" r="-1058" b="-331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DB274FA3-FFE9-F689-2794-014A84ADD027}"/>
                  </a:ext>
                </a:extLst>
              </p:cNvPr>
              <p:cNvSpPr txBox="1"/>
              <p:nvPr/>
            </p:nvSpPr>
            <p:spPr>
              <a:xfrm>
                <a:off x="258872" y="5839485"/>
                <a:ext cx="496591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b="1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SVRG</a:t>
                </a:r>
                <a:r>
                  <a:rPr lang="it-IT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: </a:t>
                </a:r>
                <a14:m>
                  <m:oMath xmlns:m="http://schemas.openxmlformats.org/officeDocument/2006/math">
                    <m:r>
                      <a:rPr lang="it-IT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it-IT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it-IT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 memoria, </a:t>
                </a:r>
                <a14:m>
                  <m:oMath xmlns:m="http://schemas.openxmlformats.org/officeDocument/2006/math">
                    <m:r>
                      <a:rPr lang="it-IT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it-IT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𝑁𝑚</m:t>
                        </m:r>
                      </m:e>
                    </m:d>
                  </m:oMath>
                </a14:m>
                <a:r>
                  <a:rPr lang="it-IT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 ogni </a:t>
                </a:r>
                <a14:m>
                  <m:oMath xmlns:m="http://schemas.openxmlformats.org/officeDocument/2006/math">
                    <m:r>
                      <a:rPr lang="it-IT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it-IT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 iterazioni. </a:t>
                </a:r>
                <a:br>
                  <a:rPr lang="it-IT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</a:br>
                <a:r>
                  <a:rPr lang="it-IT" b="1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SAGA</a:t>
                </a:r>
                <a:r>
                  <a:rPr lang="it-IT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: </a:t>
                </a:r>
                <a14:m>
                  <m:oMath xmlns:m="http://schemas.openxmlformats.org/officeDocument/2006/math">
                    <m:r>
                      <a:rPr lang="it-IT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it-IT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𝑁𝑚</m:t>
                        </m:r>
                      </m:e>
                    </m:d>
                  </m:oMath>
                </a14:m>
                <a:r>
                  <a:rPr lang="it-IT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 memoria, nessuna passata periodica.</a:t>
                </a:r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DB274FA3-FFE9-F689-2794-014A84ADD0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872" y="5839485"/>
                <a:ext cx="4965911" cy="646331"/>
              </a:xfrm>
              <a:prstGeom prst="rect">
                <a:avLst/>
              </a:prstGeom>
              <a:blipFill>
                <a:blip r:embed="rId3"/>
                <a:stretch>
                  <a:fillRect l="-982" t="-5660" r="-245" b="-1415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3231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A799A-AE40-D9CA-018C-0BE9D7F5E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DDD0CA1-C85C-C459-5269-4C8A572DF0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82880"/>
            <a:ext cx="11277600" cy="850000"/>
          </a:xfrm>
        </p:spPr>
        <p:txBody>
          <a:bodyPr anchor="t">
            <a:normAutofit/>
          </a:bodyPr>
          <a:lstStyle/>
          <a:p>
            <a:pPr algn="l"/>
            <a:r>
              <a:rPr lang="it-IT" sz="2800" b="1" dirty="0">
                <a:solidFill>
                  <a:srgbClr val="1E3A5F"/>
                </a:solidFill>
                <a:latin typeface="Cambria" panose="02020202020202020204" charset="0"/>
              </a:rPr>
              <a:t>Metodi a varianza ridotta: Schemi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2AFE7B4E-3FAE-D7E0-A625-97F74C399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251" y="1339913"/>
            <a:ext cx="5460749" cy="5518087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8251FCD6-BFCC-E2B3-C9DF-5A5096307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41240"/>
            <a:ext cx="6776954" cy="4716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360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CF8C298-9F8E-14BF-3327-27D889AB07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82880"/>
            <a:ext cx="11277600" cy="950000"/>
          </a:xfrm>
        </p:spPr>
        <p:txBody>
          <a:bodyPr anchor="t">
            <a:normAutofit/>
          </a:bodyPr>
          <a:lstStyle/>
          <a:p>
            <a:pPr algn="l"/>
            <a:r>
              <a:rPr lang="it-IT" sz="2600" b="1" dirty="0">
                <a:solidFill>
                  <a:srgbClr val="1E3A5F"/>
                </a:solidFill>
                <a:latin typeface="Cambria" panose="02020202020202020204" charset="0"/>
              </a:rPr>
              <a:t>Condizione di Controllo sulla Varianza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ottotitolo 2">
                <a:extLst>
                  <a:ext uri="{FF2B5EF4-FFF2-40B4-BE49-F238E27FC236}">
                    <a16:creationId xmlns:a16="http://schemas.microsoft.com/office/drawing/2014/main" id="{513AA120-6D67-E540-DCE0-1E76167BBBFE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5198562" y="3429000"/>
                <a:ext cx="4509486" cy="799006"/>
              </a:xfrm>
            </p:spPr>
            <p:txBody>
              <a:bodyPr>
                <a:normAutofit/>
              </a:bodyPr>
              <a:lstStyle/>
              <a:p>
                <a:r>
                  <a:rPr lang="it-IT" sz="20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, se non è soddisfatta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new</m:t>
                        </m:r>
                      </m:sup>
                    </m:sSubSup>
                    <m:r>
                      <a:rPr lang="it-IT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 = </m:t>
                    </m:r>
                    <m:d>
                      <m:dPr>
                        <m:begChr m:val="⌈"/>
                        <m:endChr m:val="⌉"/>
                        <m:ctrlP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it-IT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it-IT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it-IT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it-IT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it-IT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𝒱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b>
                                <m:r>
                                  <a:rPr lang="it-IT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p>
                              <m:sSupPr>
                                <m:ctrlPr>
                                  <a:rPr lang="it-IT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it-IT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p>
                                <m:r>
                                  <a:rPr lang="it-IT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it-IT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sSubSup>
                              <m:sSubSupPr>
                                <m:ctrlPr>
                                  <a:rPr lang="it-IT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it-IT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it-IT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  <m:sub>
                                        <m:r>
                                          <a:rPr lang="it-IT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b>
                                <m:r>
                                  <a:rPr lang="it-IT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it-IT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e>
                    </m:d>
                  </m:oMath>
                </a14:m>
                <a:endParaRPr lang="it-IT" sz="2000" dirty="0">
                  <a:solidFill>
                    <a:schemeClr val="bg1"/>
                  </a:solidFill>
                  <a:latin typeface="Calibri" panose="02020502050305020303" pitchFamily="18" charset="0"/>
                </a:endParaRPr>
              </a:p>
            </p:txBody>
          </p:sp>
        </mc:Choice>
        <mc:Fallback xmlns="">
          <p:sp>
            <p:nvSpPr>
              <p:cNvPr id="3" name="Sottotitolo 2">
                <a:extLst>
                  <a:ext uri="{FF2B5EF4-FFF2-40B4-BE49-F238E27FC236}">
                    <a16:creationId xmlns:a16="http://schemas.microsoft.com/office/drawing/2014/main" id="{513AA120-6D67-E540-DCE0-1E76167BBB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5198562" y="3429000"/>
                <a:ext cx="4509486" cy="799006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D47BBEC1-3191-83DD-3E34-6A6D9D2060AD}"/>
                  </a:ext>
                </a:extLst>
              </p:cNvPr>
              <p:cNvSpPr txBox="1"/>
              <p:nvPr/>
            </p:nvSpPr>
            <p:spPr>
              <a:xfrm>
                <a:off x="-59596" y="3567223"/>
                <a:ext cx="5406673" cy="1176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lvl="1"/>
                <a:r>
                  <a:rPr lang="it-IT" sz="20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Quindi la condizione diventa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it-IT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it-IT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it-IT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t-IT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𝒱</m:t>
                                    </m:r>
                                  </m:e>
                                </m:acc>
                              </m:e>
                            </m:d>
                          </m:e>
                          <m:sub>
                            <m:r>
                              <a:rPr lang="it-IT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it-IT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it-IT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a:rPr lang="it-IT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 ≤ </m:t>
                    </m:r>
                    <m:sSup>
                      <m:sSupPr>
                        <m:ctrlP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it-IT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Sup>
                      <m:sSubSupPr>
                        <m:ctrlP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it-IT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it-IT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it-IT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it-IT" sz="2000" dirty="0">
                  <a:solidFill>
                    <a:schemeClr val="bg1"/>
                  </a:solidFill>
                  <a:latin typeface="Calibri" panose="02020502050305020303" pitchFamily="18" charset="0"/>
                </a:endParaRPr>
              </a:p>
              <a:p>
                <a:endParaRPr lang="it-IT" sz="2000" dirty="0">
                  <a:solidFill>
                    <a:schemeClr val="bg1"/>
                  </a:solidFill>
                  <a:latin typeface="Calibri" panose="02020502050305020303" pitchFamily="18" charset="0"/>
                </a:endParaRPr>
              </a:p>
              <a:p>
                <a:endParaRPr lang="it-IT" sz="2000" dirty="0">
                  <a:solidFill>
                    <a:schemeClr val="bg1"/>
                  </a:solidFill>
                  <a:latin typeface="Calibri" panose="02020502050305020303" pitchFamily="18" charset="0"/>
                </a:endParaRPr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D47BBEC1-3191-83DD-3E34-6A6D9D2060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9596" y="3567223"/>
                <a:ext cx="5406673" cy="117621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5EF7357D-BE05-CE67-2A86-76C5760348A8}"/>
                  </a:ext>
                </a:extLst>
              </p:cNvPr>
              <p:cNvSpPr txBox="1"/>
              <p:nvPr/>
            </p:nvSpPr>
            <p:spPr>
              <a:xfrm>
                <a:off x="368469" y="1779338"/>
                <a:ext cx="9010921" cy="92333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Se</m:t>
                        </m:r>
                        <m:r>
                          <a:rPr lang="it-IT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begChr m:val="‖"/>
                            <m:endChr m:val="‖"/>
                            <m:ctrlPr>
                              <a:rPr lang="it-IT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it-IT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it-IT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it-IT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it-IT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sSub>
                      <m:sSubPr>
                        <m:ctrlP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it-IT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it-IT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it-IT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it-IT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it-IT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con</m:t>
                        </m:r>
                        <m:r>
                          <a:rPr lang="it-IT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d>
                          <m:dPr>
                            <m:ctrlPr>
                              <a:rPr lang="it-IT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  <m:r>
                          <a:rPr lang="it-IT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it-IT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it-IT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it-IT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𝛻</m:t>
                    </m:r>
                    <m:r>
                      <a:rPr lang="it-IT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it-IT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it-IT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it-IT" sz="20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 allora </a:t>
                </a:r>
                <a14:m>
                  <m:oMath xmlns:m="http://schemas.openxmlformats.org/officeDocument/2006/math">
                    <m:r>
                      <a:rPr lang="it-IT" sz="200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it-IT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it-IT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it-IT" sz="20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 è di discesa per </a:t>
                </a:r>
                <a14:m>
                  <m:oMath xmlns:m="http://schemas.openxmlformats.org/officeDocument/2006/math">
                    <m:r>
                      <a:rPr lang="it-IT" sz="20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endParaRPr lang="it-IT" sz="2000" dirty="0">
                  <a:solidFill>
                    <a:schemeClr val="bg1"/>
                  </a:solidFill>
                  <a:latin typeface="Calibri" panose="02020502050305020303" pitchFamily="18" charset="0"/>
                </a:endParaRPr>
              </a:p>
              <a:p>
                <a:endParaRPr lang="it-IT" sz="2000" dirty="0">
                  <a:solidFill>
                    <a:schemeClr val="bg1"/>
                  </a:solidFill>
                  <a:latin typeface="Calibri" panose="02020502050305020303" pitchFamily="18" charset="0"/>
                </a:endParaRPr>
              </a:p>
              <a:p>
                <a:endParaRPr lang="it-IT" sz="2000" dirty="0">
                  <a:solidFill>
                    <a:schemeClr val="bg1"/>
                  </a:solidFill>
                  <a:latin typeface="Calibri" panose="02020502050305020303" pitchFamily="18" charset="0"/>
                </a:endParaRPr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5EF7357D-BE05-CE67-2A86-76C5760348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69" y="1779338"/>
                <a:ext cx="9010921" cy="923330"/>
              </a:xfrm>
              <a:prstGeom prst="rect">
                <a:avLst/>
              </a:prstGeom>
              <a:blipFill>
                <a:blip r:embed="rId6"/>
                <a:stretch>
                  <a:fillRect l="-947" t="-860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94AD137F-A978-96AA-9136-0CC5C6B16821}"/>
                  </a:ext>
                </a:extLst>
              </p:cNvPr>
              <p:cNvSpPr txBox="1"/>
              <p:nvPr/>
            </p:nvSpPr>
            <p:spPr>
              <a:xfrm>
                <a:off x="368469" y="2170899"/>
                <a:ext cx="10844476" cy="17770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it-IT" sz="20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Non potendo calcolare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 dirty="0" err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 dirty="0" err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it-IT" sz="2000" i="1" dirty="0" err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it-IT" sz="2000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2000" b="0" i="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esattamente,  calcoliamo </a:t>
                </a:r>
              </a:p>
              <a:p>
                <a:r>
                  <a:rPr lang="it-IT" sz="20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=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i="0">
                        <a:solidFill>
                          <a:schemeClr val="bg1"/>
                        </a:solidFill>
                        <a:latin typeface="Calibri" panose="02020502050305020303" pitchFamily="18" charset="0"/>
                      </a:rPr>
                      <m:t>Var</m:t>
                    </m:r>
                    <m:d>
                      <m:dPr>
                        <m:ctrlPr>
                          <a:rPr lang="it-IT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it-IT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it-IT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it-IT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it-IT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den>
                        </m:f>
                        <m:nary>
                          <m:naryPr>
                            <m:chr m:val="∑"/>
                            <m:limLoc m:val="undOvr"/>
                            <m:supHide m:val="on"/>
                            <m:ctrlPr>
                              <a:rPr lang="it-IT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it-IT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it-IT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b>
                              <m:sSubPr>
                                <m:ctrlPr>
                                  <a:rPr lang="it-IT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it-IT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sub>
                          <m:sup/>
                          <m:e>
                            <m:r>
                              <a:rPr lang="it-IT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𝛻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it-IT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  <m:d>
                          <m:dPr>
                            <m:ctrlPr>
                              <a:rPr lang="it-IT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it-IT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it-IT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it-IT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it-IT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</m:d>
                  </m:oMath>
                </a14:m>
                <a:r>
                  <a:rPr lang="it-IT" dirty="0">
                    <a:solidFill>
                      <a:schemeClr val="bg1"/>
                    </a:solidFill>
                  </a:rPr>
                  <a:t>, </a:t>
                </a:r>
                <a:r>
                  <a:rPr lang="it-IT" sz="20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ora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 dirty="0" err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 dirty="0" err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it-IT" sz="2000" i="1" dirty="0" err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it-IT" sz="20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 viene portata fuori (al quadrato) 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it-IT" sz="20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it-IT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it-IT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  <m:sup/>
                      <m:e>
                        <m:r>
                          <m:rPr>
                            <m:nor/>
                          </m:rPr>
                          <a:rPr lang="it-IT" sz="2000" i="0">
                            <a:solidFill>
                              <a:schemeClr val="bg1"/>
                            </a:solidFill>
                            <a:latin typeface="Calibri" panose="02020502050305020303" pitchFamily="18" charset="0"/>
                          </a:rPr>
                          <m:t>Var</m:t>
                        </m:r>
                      </m:e>
                    </m:nary>
                    <m:d>
                      <m:dPr>
                        <m:ctrlP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𝛻</m:t>
                        </m:r>
                        <m:r>
                          <m:rPr>
                            <m:sty m:val="p"/>
                          </m:rPr>
                          <a:rPr lang="it-IT" sz="20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  <m:d>
                          <m:dPr>
                            <m:ctrlPr>
                              <a:rPr lang="it-IT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it-IT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it-IT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it-IT" sz="20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a:rPr lang="it-IT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</m:d>
                    <m:r>
                      <a:rPr lang="it-IT" sz="20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it-IT" sz="20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⋅‖</m:t>
                    </m:r>
                    <m:acc>
                      <m:accPr>
                        <m:chr m:val="ˆ"/>
                        <m:ctrlPr>
                          <a:rPr lang="it-IT" sz="20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sz="20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𝒱</m:t>
                        </m:r>
                      </m:e>
                    </m:acc>
                    <m:r>
                      <a:rPr lang="it-IT" sz="20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‖</m:t>
                    </m:r>
                    <m:sSub>
                      <m:sSubPr>
                        <m:ctrlPr>
                          <a:rPr lang="it-IT" sz="20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b>
                        <m:r>
                          <a:rPr lang="it-IT" sz="20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it-IT" sz="2000" dirty="0">
                  <a:solidFill>
                    <a:schemeClr val="bg1"/>
                  </a:solidFill>
                </a:endParaRPr>
              </a:p>
              <a:p>
                <a:r>
                  <a:rPr lang="it-IT" sz="20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Dove</a:t>
                </a:r>
                <a:r>
                  <a:rPr lang="it-IT" sz="2000" b="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𝒱</m:t>
                        </m:r>
                      </m:e>
                    </m:acc>
                    <m:r>
                      <a:rPr lang="it-IT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:=</m:t>
                    </m:r>
                    <m:f>
                      <m:fPr>
                        <m:ctrlP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it-IT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it-IT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it-IT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𝒮</m:t>
                            </m:r>
                          </m:e>
                          <m:sub>
                            <m:r>
                              <a:rPr lang="it-IT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  <m:sup/>
                      <m:e>
                        <m:sSup>
                          <m:sSupPr>
                            <m:ctrlPr>
                              <a:rPr lang="it-IT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it-IT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𝛻</m:t>
                                </m:r>
                                <m:r>
                                  <m:rPr>
                                    <m:sty m:val="p"/>
                                  </m:rPr>
                                  <a:rPr lang="it-IT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  <m:d>
                                  <m:dPr>
                                    <m:ctrlPr>
                                      <a:rPr lang="it-IT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it-IT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it-IT" sz="2000" i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 lang="it-IT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;</m:t>
                                    </m:r>
                                    <m:r>
                                      <a:rPr lang="it-IT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  <m:r>
                                  <a:rPr lang="it-IT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it-IT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it-IT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it-IT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it-IT" sz="2000" dirty="0">
                  <a:solidFill>
                    <a:schemeClr val="bg1"/>
                  </a:solidFill>
                  <a:latin typeface="Calibri" panose="02020502050305020303" pitchFamily="18" charset="0"/>
                </a:endParaRPr>
              </a:p>
              <a:p>
                <a:endParaRPr lang="it-IT" sz="2000" dirty="0">
                  <a:solidFill>
                    <a:schemeClr val="bg1"/>
                  </a:solidFill>
                  <a:latin typeface="Calibri" panose="02020502050305020303" pitchFamily="18" charset="0"/>
                </a:endParaRPr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94AD137F-A978-96AA-9136-0CC5C6B168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69" y="2170899"/>
                <a:ext cx="10844476" cy="1777025"/>
              </a:xfrm>
              <a:prstGeom prst="rect">
                <a:avLst/>
              </a:prstGeom>
              <a:blipFill>
                <a:blip r:embed="rId7"/>
                <a:stretch>
                  <a:fillRect l="-1405" t="-4452" b="-1678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E8D6FA4E-49A7-C751-D05C-70F7D07ABC87}"/>
                  </a:ext>
                </a:extLst>
              </p:cNvPr>
              <p:cNvSpPr txBox="1"/>
              <p:nvPr/>
            </p:nvSpPr>
            <p:spPr>
              <a:xfrm>
                <a:off x="5642688" y="2170899"/>
                <a:ext cx="3223033" cy="373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1"/>
                <a14:m>
                  <m:oMathPara xmlns:m="http://schemas.openxmlformats.org/officeDocument/2006/math">
                    <m:oMath>
                      <m:r>
                        <a:rPr lang="it-IT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it-IT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it-IT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it-IT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it-IT" i="1" dirty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i="1" dirty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it-IT" i="1" dirty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it-IT" i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it-IT" i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it-IT" i="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it-IT" i="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it-IT" i="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Var</m:t>
                          </m:r>
                        </m:fName>
                        <m:e>
                          <m:d>
                            <m:dPr>
                              <m:ctrlPr>
                                <a:rPr lang="it-IT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it-IT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it-IT" i="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it-IT" i="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it-IT" i="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Var</m:t>
                          </m:r>
                        </m:fName>
                        <m:e>
                          <m:d>
                            <m:dPr>
                              <m:ctrlPr>
                                <a:rPr lang="it-IT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it-IT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it-IT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E8D6FA4E-49A7-C751-D05C-70F7D07ABC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2688" y="2170899"/>
                <a:ext cx="3223033" cy="373051"/>
              </a:xfrm>
              <a:prstGeom prst="rect">
                <a:avLst/>
              </a:prstGeom>
              <a:blipFill>
                <a:blip r:embed="rId8"/>
                <a:stretch>
                  <a:fillRect b="-983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22669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D841764-CE0D-9E76-C5DE-FC92C7A94F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82880"/>
            <a:ext cx="11277600" cy="750000"/>
          </a:xfrm>
        </p:spPr>
        <p:txBody>
          <a:bodyPr anchor="t">
            <a:normAutofit/>
          </a:bodyPr>
          <a:lstStyle/>
          <a:p>
            <a:pPr algn="l"/>
            <a:r>
              <a:rPr lang="it-IT" sz="3200" b="1" dirty="0">
                <a:solidFill>
                  <a:srgbClr val="1E3A5F"/>
                </a:solidFill>
                <a:latin typeface="Cambria" panose="02020202020202020204" charset="0"/>
              </a:rPr>
              <a:t>Dynamic GD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5BF3A9DA-14BD-8793-1BEB-8129D55BA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0569" y="0"/>
            <a:ext cx="68614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40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DC6CDD-6C5C-CB85-FE91-428E02B321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82880"/>
            <a:ext cx="11277600" cy="850000"/>
          </a:xfrm>
        </p:spPr>
        <p:txBody>
          <a:bodyPr anchor="t">
            <a:normAutofit/>
          </a:bodyPr>
          <a:lstStyle/>
          <a:p>
            <a:pPr algn="l"/>
            <a:r>
              <a:rPr lang="it-IT" sz="2800" b="1" dirty="0">
                <a:solidFill>
                  <a:srgbClr val="1E3A5F"/>
                </a:solidFill>
                <a:latin typeface="Cambria" panose="02020202020202020204" charset="0"/>
              </a:rPr>
              <a:t>Analisi Deterministica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CFF80EAB-4CDA-D640-D310-9FC143BD5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6748" y="2277576"/>
            <a:ext cx="6695227" cy="4447074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2B87FB8-E9A3-C985-C290-4F4BCE444F0B}"/>
              </a:ext>
            </a:extLst>
          </p:cNvPr>
          <p:cNvSpPr txBox="1"/>
          <p:nvPr/>
        </p:nvSpPr>
        <p:spPr>
          <a:xfrm>
            <a:off x="200026" y="1020937"/>
            <a:ext cx="118967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solidFill>
                  <a:schemeClr val="bg1"/>
                </a:solidFill>
                <a:latin typeface="Calibri" panose="02020502050305020303" pitchFamily="18" charset="0"/>
              </a:rPr>
              <a:t>Il fattore di contrazione è più piccolo di quello di </a:t>
            </a:r>
            <a:r>
              <a:rPr lang="it-IT" sz="2000" dirty="0" err="1">
                <a:solidFill>
                  <a:schemeClr val="bg1"/>
                </a:solidFill>
                <a:latin typeface="Calibri" panose="02020502050305020303" pitchFamily="18" charset="0"/>
              </a:rPr>
              <a:t>Nocedal</a:t>
            </a:r>
            <a:r>
              <a:rPr lang="it-IT" sz="2000" dirty="0">
                <a:solidFill>
                  <a:schemeClr val="bg1"/>
                </a:solidFill>
                <a:latin typeface="Calibri" panose="02020502050305020303" pitchFamily="18" charset="0"/>
              </a:rPr>
              <a:t>. Di conseguenza, il nostro </a:t>
            </a:r>
            <a:r>
              <a:rPr lang="it-IT" sz="2000" dirty="0" err="1">
                <a:solidFill>
                  <a:schemeClr val="bg1"/>
                </a:solidFill>
                <a:latin typeface="Calibri" panose="02020502050305020303" pitchFamily="18" charset="0"/>
              </a:rPr>
              <a:t>bound</a:t>
            </a:r>
            <a:r>
              <a:rPr lang="it-IT" sz="2000" dirty="0">
                <a:solidFill>
                  <a:schemeClr val="bg1"/>
                </a:solidFill>
                <a:latin typeface="Calibri" panose="02020502050305020303" pitchFamily="18" charset="0"/>
              </a:rPr>
              <a:t> sull'errore decade più velocemente a ogni iterazione, a parità di passo e di ipotesi sulla funzione.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C97689EE-D8A1-57EC-E030-491319B5F119}"/>
                  </a:ext>
                </a:extLst>
              </p:cNvPr>
              <p:cNvSpPr txBox="1"/>
              <p:nvPr/>
            </p:nvSpPr>
            <p:spPr>
              <a:xfrm>
                <a:off x="200026" y="1745653"/>
                <a:ext cx="6134564" cy="4042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sz="20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Ottenuto usando Polyak–</a:t>
                </a:r>
                <a:r>
                  <a:rPr lang="it-IT" sz="2000" dirty="0" err="1">
                    <a:solidFill>
                      <a:schemeClr val="bg1"/>
                    </a:solidFill>
                    <a:latin typeface="Calibri" panose="02020502050305020303" pitchFamily="18" charset="0"/>
                  </a:rPr>
                  <a:t>Lojasiewicz</a:t>
                </a:r>
                <a:r>
                  <a:rPr lang="it-IT" sz="20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l-PL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pl-PL" sz="2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l-PL" sz="2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𝛻</m:t>
                            </m:r>
                            <m:r>
                              <a:rPr lang="pl-PL" sz="2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𝐽</m:t>
                            </m:r>
                            <m:d>
                              <m:dPr>
                                <m:ctrlPr>
                                  <a:rPr lang="pl-PL" sz="20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pl-PL" sz="20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pl-PL" sz="2000" i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pl-PL" sz="2000" i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pl-PL" sz="2000" i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≥2</m:t>
                    </m:r>
                    <m:r>
                      <a:rPr lang="pl-PL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pl-PL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pl-PL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</m:oMath>
                </a14:m>
                <a:endParaRPr lang="it-IT" sz="2000" dirty="0">
                  <a:solidFill>
                    <a:schemeClr val="bg1"/>
                  </a:solidFill>
                  <a:latin typeface="Calibri" panose="02020502050305020303" pitchFamily="18" charset="0"/>
                </a:endParaRPr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C97689EE-D8A1-57EC-E030-491319B5F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026" y="1745653"/>
                <a:ext cx="6134564" cy="404213"/>
              </a:xfrm>
              <a:prstGeom prst="rect">
                <a:avLst/>
              </a:prstGeom>
              <a:blipFill>
                <a:blip r:embed="rId3"/>
                <a:stretch>
                  <a:fillRect l="-1093" t="-5970" b="-2537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34D82ABD-5CC9-7C86-41FC-B39BE0140E73}"/>
              </a:ext>
            </a:extLst>
          </p:cNvPr>
          <p:cNvSpPr txBox="1"/>
          <p:nvPr/>
        </p:nvSpPr>
        <p:spPr>
          <a:xfrm>
            <a:off x="200025" y="2168121"/>
            <a:ext cx="42671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>
                <a:solidFill>
                  <a:schemeClr val="bg1"/>
                </a:solidFill>
                <a:latin typeface="Calibri" panose="02020502050305020303" pitchFamily="18" charset="0"/>
              </a:rPr>
              <a:t>anziché la versione più debole usata da </a:t>
            </a:r>
            <a:r>
              <a:rPr lang="it-IT" sz="2000" dirty="0" err="1">
                <a:solidFill>
                  <a:schemeClr val="bg1"/>
                </a:solidFill>
                <a:latin typeface="Calibri" panose="02020502050305020303" pitchFamily="18" charset="0"/>
              </a:rPr>
              <a:t>Nocedal e Wright</a:t>
            </a:r>
            <a:r>
              <a:rPr lang="it-IT" sz="2000" dirty="0">
                <a:solidFill>
                  <a:schemeClr val="bg1"/>
                </a:solidFill>
                <a:latin typeface="Calibri" panose="02020502050305020303" pitchFamily="18" charset="0"/>
              </a:rPr>
              <a:t>. Questa disuguaglianza vale sotto le stesse ipotesi del paper originale ovvero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B4384590-651B-E10F-A44B-EABE6C47E467}"/>
                  </a:ext>
                </a:extLst>
              </p:cNvPr>
              <p:cNvSpPr txBox="1"/>
              <p:nvPr/>
            </p:nvSpPr>
            <p:spPr>
              <a:xfrm>
                <a:off x="95250" y="3429000"/>
                <a:ext cx="4619625" cy="673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it-IT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it-IT" i="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it-IT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it-IT" i="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it-IT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it-IT" i="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it-IT" i="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ℝ</m:t>
                      </m:r>
                      <m:r>
                        <a:rPr lang="it-IT" i="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, 0&lt;</m:t>
                      </m:r>
                      <m:r>
                        <a:rPr lang="it-IT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it-IT" i="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it-IT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it-IT" i="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r>
                        <m:rPr>
                          <m:nor/>
                        </m:rPr>
                        <a:rPr lang="it-IT" i="0" dirty="0">
                          <a:solidFill>
                            <a:schemeClr val="bg1"/>
                          </a:solidFill>
                          <a:latin typeface="Calibri" panose="02020502050305020303" pitchFamily="18" charset="0"/>
                        </a:rPr>
                        <m:t> tale che </m:t>
                      </m:r>
                      <m:r>
                        <a:rPr lang="it-IT" i="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 ∀</m:t>
                      </m:r>
                      <m:r>
                        <a:rPr lang="it-IT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it-IT" i="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it-IT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it-IT" i="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it-IT" i="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i="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it-IT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it-IT" i="1" dirty="0">
                  <a:solidFill>
                    <a:schemeClr val="bg1"/>
                  </a:solidFill>
                  <a:latin typeface="Calibri" panose="02020502050305020303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it-IT" i="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r>
                        <a:rPr lang="it-IT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sSubSup>
                        <m:sSubSupPr>
                          <m:ctrlPr>
                            <a:rPr lang="it-IT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it-IT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</m:e>
                        <m:sub>
                          <m:r>
                            <a:rPr lang="it-IT" i="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it-IT" i="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it-IT" i="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it-IT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it-IT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it-IT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𝛻</m:t>
                          </m:r>
                        </m:e>
                        <m:sup>
                          <m:r>
                            <a:rPr lang="it-IT" i="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it-IT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it-IT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it-IT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it-IT" i="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it-IT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sSubSup>
                        <m:sSubSupPr>
                          <m:ctrlPr>
                            <a:rPr lang="it-IT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it-IT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d>
                        </m:e>
                        <m:sub>
                          <m:r>
                            <a:rPr lang="it-IT" i="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it-IT" i="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2.</m:t>
                          </m:r>
                        </m:sup>
                      </m:sSubSup>
                    </m:oMath>
                  </m:oMathPara>
                </a14:m>
                <a:endParaRPr lang="it-IT" dirty="0">
                  <a:solidFill>
                    <a:schemeClr val="bg1"/>
                  </a:solidFill>
                  <a:latin typeface="Calibri" panose="02020502050305020303" pitchFamily="18" charset="0"/>
                </a:endParaRPr>
              </a:p>
            </p:txBody>
          </p:sp>
        </mc:Choice>
        <mc:Fallback xmlns="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B4384590-651B-E10F-A44B-EABE6C47E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0" y="3429000"/>
                <a:ext cx="4619625" cy="673774"/>
              </a:xfrm>
              <a:prstGeom prst="rect">
                <a:avLst/>
              </a:prstGeom>
              <a:blipFill>
                <a:blip r:embed="rId4"/>
                <a:stretch>
                  <a:fillRect b="-1272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sellaDiTesto 2">
            <a:extLst>
              <a:ext uri="{FF2B5EF4-FFF2-40B4-BE49-F238E27FC236}">
                <a16:creationId xmlns:a16="http://schemas.microsoft.com/office/drawing/2014/main" id="{A1AA09C8-C96C-EF87-F0CC-0C5D63F654F7}"/>
              </a:ext>
            </a:extLst>
          </p:cNvPr>
          <p:cNvSpPr txBox="1"/>
          <p:nvPr/>
        </p:nvSpPr>
        <p:spPr>
          <a:xfrm>
            <a:off x="200025" y="4131781"/>
            <a:ext cx="3494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Numero di iterazioni dimezzato</a:t>
            </a:r>
          </a:p>
        </p:txBody>
      </p:sp>
    </p:spTree>
    <p:extLst>
      <p:ext uri="{BB962C8B-B14F-4D97-AF65-F5344CB8AC3E}">
        <p14:creationId xmlns:p14="http://schemas.microsoft.com/office/powerpoint/2010/main" val="3402896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5785C-FA88-A056-04D6-51C5A841E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677A2B7-5370-176B-5980-CB05E4E0B4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82880"/>
            <a:ext cx="11277600" cy="750000"/>
          </a:xfrm>
        </p:spPr>
        <p:txBody>
          <a:bodyPr anchor="t">
            <a:normAutofit/>
          </a:bodyPr>
          <a:lstStyle/>
          <a:p>
            <a:pPr algn="l"/>
            <a:r>
              <a:rPr lang="it-IT" sz="2800" b="1" dirty="0">
                <a:solidFill>
                  <a:srgbClr val="1E3A5F"/>
                </a:solidFill>
                <a:latin typeface="Cambria" panose="02020202020202020204" charset="0"/>
              </a:rPr>
              <a:t>Analisi Stocastica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ottotitolo 2">
                <a:extLst>
                  <a:ext uri="{FF2B5EF4-FFF2-40B4-BE49-F238E27FC236}">
                    <a16:creationId xmlns:a16="http://schemas.microsoft.com/office/drawing/2014/main" id="{7ABF6279-AD2E-6E6D-EE7A-D126E4C5BCDA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240766" y="975325"/>
                <a:ext cx="8495828" cy="2736596"/>
              </a:xfrm>
            </p:spPr>
            <p:txBody>
              <a:bodyPr>
                <a:noAutofit/>
              </a:bodyPr>
              <a:lstStyle/>
              <a:p>
                <a:pPr algn="l">
                  <a:spcBef>
                    <a:spcPts val="0"/>
                  </a:spcBef>
                </a:pPr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Ipotesi strutturali su J(w) : </a:t>
                </a:r>
                <a14:m>
                  <m:oMath xmlns:m="http://schemas.openxmlformats.org/officeDocument/2006/math">
                    <m:r>
                      <a:rPr lang="it-IT" sz="18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it-IT" sz="18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it-IT" sz="1800" i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⪯</m:t>
                    </m:r>
                    <m:sSup>
                      <m:sSupPr>
                        <m:ctrlPr>
                          <a:rPr lang="it-IT" sz="18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18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p>
                        <m:r>
                          <a:rPr lang="it-IT" sz="1800" i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it-IT" sz="18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it-IT" sz="18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8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it-IT" sz="1800" i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⪯</m:t>
                    </m:r>
                    <m:r>
                      <a:rPr lang="it-IT" sz="18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𝐿𝐼</m:t>
                    </m:r>
                    <m:r>
                      <a:rPr lang="it-IT" sz="1800" i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, ∀</m:t>
                    </m:r>
                    <m:r>
                      <a:rPr lang="it-IT" sz="18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it-IT" sz="1800" i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it-IT" sz="1800" i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1800" i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it-IT" sz="18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it-IT" sz="1800" i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, 0&lt;</m:t>
                    </m:r>
                    <m:r>
                      <a:rPr lang="it-IT" sz="18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lang="it-IT" sz="1800" i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it-IT" sz="18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lang="it-IT" sz="1800" i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 </a:t>
                </a:r>
              </a:p>
              <a:p>
                <a:pPr algn="l" latinLnBrk="1">
                  <a:spcBef>
                    <a:spcPts val="0"/>
                  </a:spcBef>
                </a:pPr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Ipotesi stocastiche: </a:t>
                </a:r>
                <a14:m>
                  <m:oMath xmlns:m="http://schemas.openxmlformats.org/officeDocument/2006/math">
                    <m:r>
                      <a:rPr lang="it-IT" sz="180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∃</m:t>
                    </m:r>
                    <m:r>
                      <a:rPr lang="it-IT" sz="1800" i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it-IT" sz="18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it-IT" sz="1800" i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&gt;0 </m:t>
                    </m:r>
                    <m:r>
                      <m:rPr>
                        <m:nor/>
                      </m:rPr>
                      <a:rPr lang="it-IT" sz="1800" i="0" dirty="0">
                        <a:solidFill>
                          <a:schemeClr val="bg1"/>
                        </a:solidFill>
                        <a:latin typeface="Calibri" panose="02020502050305020303" pitchFamily="18" charset="0"/>
                      </a:rPr>
                      <m:t> tale che </m:t>
                    </m:r>
                    <m:r>
                      <a:rPr lang="it-IT" sz="1800" i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 </m:t>
                    </m:r>
                    <m:sSub>
                      <m:sSubPr>
                        <m:ctrlPr>
                          <a:rPr lang="it-IT" sz="18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it-IT" sz="1800" i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it-IT" sz="1800" i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Var</m:t>
                            </m:r>
                            <m:d>
                              <m:dPr>
                                <m:ctrlPr>
                                  <a:rPr lang="it-IT" sz="18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sz="1800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𝛻</m:t>
                                </m:r>
                                <m:r>
                                  <m:rPr>
                                    <m:sty m:val="p"/>
                                  </m:rPr>
                                  <a:rPr lang="it-IT" sz="1800" i="0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  <m:d>
                                  <m:dPr>
                                    <m:ctrlPr>
                                      <a:rPr lang="it-IT" sz="18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it-IT" sz="1800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sz="1800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it-IT" sz="1800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 lang="it-IT" sz="1800" i="0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;</m:t>
                                    </m:r>
                                    <m:r>
                                      <a:rPr lang="it-IT" sz="1800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</m:e>
                      <m:sub>
                        <m:r>
                          <a:rPr lang="it-IT" sz="1800" i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t-IT" sz="1800" i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it-IT" sz="18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𝜔</m:t>
                    </m:r>
                    <m:r>
                      <a:rPr lang="it-IT" sz="1800" i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, ∀</m:t>
                    </m:r>
                    <m:sSub>
                      <m:sSubPr>
                        <m:ctrlPr>
                          <a:rPr lang="it-IT" sz="18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it-IT" sz="18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it-IT" sz="1800" i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it-IT" sz="1800" dirty="0">
                  <a:solidFill>
                    <a:schemeClr val="bg1"/>
                  </a:solidFill>
                  <a:latin typeface="Calibri" panose="02020502050305020303" pitchFamily="18" charset="0"/>
                </a:endParaRPr>
              </a:p>
            </p:txBody>
          </p:sp>
        </mc:Choice>
        <mc:Fallback>
          <p:sp>
            <p:nvSpPr>
              <p:cNvPr id="3" name="Sottotitolo 2">
                <a:extLst>
                  <a:ext uri="{FF2B5EF4-FFF2-40B4-BE49-F238E27FC236}">
                    <a16:creationId xmlns:a16="http://schemas.microsoft.com/office/drawing/2014/main" id="{7ABF6279-AD2E-6E6D-EE7A-D126E4C5BC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240766" y="975325"/>
                <a:ext cx="8495828" cy="2736596"/>
              </a:xfrm>
              <a:blipFill>
                <a:blip r:embed="rId2"/>
                <a:stretch>
                  <a:fillRect l="-57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6575DA58-D943-8B54-BBB2-FC8850BB8D7B}"/>
                  </a:ext>
                </a:extLst>
              </p:cNvPr>
              <p:cNvSpPr txBox="1"/>
              <p:nvPr/>
            </p:nvSpPr>
            <p:spPr>
              <a:xfrm>
                <a:off x="1392989" y="2295164"/>
                <a:ext cx="5691302" cy="714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it-IT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it-IT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it-IT" i="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it-IT" i="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d>
                        <m:dPr>
                          <m:ctrlPr>
                            <a:rPr lang="it-IT" i="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it-IT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t-IT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num>
                            <m:den>
                              <m:r>
                                <a:rPr lang="it-IT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it-IT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it-IT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it-IT" i="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it-IT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num>
                        <m:den>
                          <m:r>
                            <a:rPr lang="it-IT" i="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it-IT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  <m:sSub>
                            <m:sSubPr>
                              <m:ctrlPr>
                                <a:rPr lang="it-IT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it-IT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it-IT" i="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,  </m:t>
                      </m:r>
                      <m:sSub>
                        <m:sSubPr>
                          <m:ctrlPr>
                            <a:rPr lang="it-IT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it-IT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it-IT" i="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:=</m:t>
                      </m:r>
                      <m:r>
                        <a:rPr lang="it-IT" i="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it-IT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it-IT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it-IT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r>
                            <a:rPr lang="it-IT" i="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it-IT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it-IT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it-IT" i="0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it-IT" i="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it-IT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6575DA58-D943-8B54-BBB2-FC8850BB8D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989" y="2295164"/>
                <a:ext cx="5691302" cy="7146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08C08200-0DAA-6620-8F97-AC473B946D27}"/>
                  </a:ext>
                </a:extLst>
              </p:cNvPr>
              <p:cNvSpPr txBox="1"/>
              <p:nvPr/>
            </p:nvSpPr>
            <p:spPr>
              <a:xfrm>
                <a:off x="1927784" y="1780509"/>
                <a:ext cx="4332148" cy="4241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it-IT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∃ </m:t>
                      </m:r>
                      <m:r>
                        <a:rPr lang="it-IT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it-IT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it-IT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ℝ</m:t>
                      </m:r>
                      <m:r>
                        <a:rPr lang="it-IT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r>
                        <a:rPr lang="it-IT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it-IT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&gt;1, </m:t>
                      </m:r>
                      <m:r>
                        <m:rPr>
                          <m:nor/>
                        </m:rPr>
                        <a:rPr lang="it-IT" i="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t.c. </m:t>
                      </m:r>
                      <m:r>
                        <a:rPr lang="it-IT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sSub>
                        <m:sSubPr>
                          <m:ctrlPr>
                            <a:rPr lang="it-IT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it-IT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it-IT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⌈"/>
                          <m:endChr m:val="⌉"/>
                          <m:ctrlPr>
                            <a:rPr lang="it-IT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it-IT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IT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it-IT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it-IT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, ∀</m:t>
                      </m:r>
                      <m:r>
                        <a:rPr lang="it-IT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it-IT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it-IT" dirty="0">
                  <a:solidFill>
                    <a:schemeClr val="bg1"/>
                  </a:solidFill>
                  <a:latin typeface="Calibri" panose="02020502050305020303" pitchFamily="18" charset="0"/>
                </a:endParaRPr>
              </a:p>
            </p:txBody>
          </p:sp>
        </mc:Choice>
        <mc:Fallback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08C08200-0DAA-6620-8F97-AC473B946D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7784" y="1780509"/>
                <a:ext cx="4332148" cy="424155"/>
              </a:xfrm>
              <a:prstGeom prst="rect">
                <a:avLst/>
              </a:prstGeom>
              <a:blipFill>
                <a:blip r:embed="rId4"/>
                <a:stretch>
                  <a:fillRect b="-1571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asellaDiTesto 7">
            <a:extLst>
              <a:ext uri="{FF2B5EF4-FFF2-40B4-BE49-F238E27FC236}">
                <a16:creationId xmlns:a16="http://schemas.microsoft.com/office/drawing/2014/main" id="{C055E212-E032-C393-62A1-570C58396017}"/>
              </a:ext>
            </a:extLst>
          </p:cNvPr>
          <p:cNvSpPr txBox="1"/>
          <p:nvPr/>
        </p:nvSpPr>
        <p:spPr>
          <a:xfrm>
            <a:off x="240766" y="2467840"/>
            <a:ext cx="121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  <a:latin typeface="Calibri" panose="02020502050305020303" pitchFamily="18" charset="0"/>
              </a:rPr>
              <a:t>Ricorrenza: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FA59CE61-4322-1F80-EFE5-49A62E78FD4A}"/>
                  </a:ext>
                </a:extLst>
              </p:cNvPr>
              <p:cNvSpPr txBox="1"/>
              <p:nvPr/>
            </p:nvSpPr>
            <p:spPr>
              <a:xfrm>
                <a:off x="240766" y="3603129"/>
                <a:ext cx="6959726" cy="7101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atinLnBrk="1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it-IT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it-IT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it-IT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it-IT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sSup>
                        <m:sSupPr>
                          <m:ctrlPr>
                            <a:rPr lang="it-IT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it-IT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it-IT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,  </m:t>
                      </m:r>
                      <m:r>
                        <a:rPr lang="it-IT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it-IT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it-IT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it-IT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it-IT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it-IT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it-IT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num>
                                <m:den>
                                  <m:r>
                                    <a:rPr lang="it-IT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it-IT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 </m:t>
                              </m:r>
                              <m:f>
                                <m:fPr>
                                  <m:ctrlPr>
                                    <a:rPr lang="it-IT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it-IT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it-IT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it-IT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it-IT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invece di</m:t>
                      </m:r>
                      <m:r>
                        <a:rPr lang="it-IT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it-IT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it-IT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it-IT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it-IT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it-IT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it-IT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it-IT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it-IT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num>
                                <m:den>
                                  <m:r>
                                    <a:rPr lang="it-IT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it-IT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den>
                              </m:f>
                              <m:r>
                                <a:rPr lang="it-IT" i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, </m:t>
                              </m:r>
                              <m:f>
                                <m:fPr>
                                  <m:ctrlPr>
                                    <a:rPr lang="it-IT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it-IT" i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it-IT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it-IT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it-IT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FA59CE61-4322-1F80-EFE5-49A62E78FD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766" y="3603129"/>
                <a:ext cx="6959726" cy="71019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32257A18-4434-05A8-F028-BBB673E6969D}"/>
                  </a:ext>
                </a:extLst>
              </p:cNvPr>
              <p:cNvSpPr txBox="1"/>
              <p:nvPr/>
            </p:nvSpPr>
            <p:spPr>
              <a:xfrm>
                <a:off x="240766" y="2953656"/>
                <a:ext cx="7674798" cy="497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Migliorata con PL (il coefficiente di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it-IT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it-IT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è più piccolo:</a:t>
                </a:r>
                <a14:m>
                  <m:oMath xmlns:m="http://schemas.openxmlformats.org/officeDocument/2006/math">
                    <m:r>
                      <a:rPr lang="it-IT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it-IT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=1</m:t>
                    </m:r>
                    <m:r>
                      <a:rPr lang="it-IT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it-IT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it-IT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it-IT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it-IT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it-IT" i="0" dirty="0">
                        <a:solidFill>
                          <a:schemeClr val="bg1"/>
                        </a:solidFill>
                        <a:latin typeface="Calibri" panose="02020502050305020303" pitchFamily="18" charset="0"/>
                      </a:rPr>
                      <m:t>invece</m:t>
                    </m:r>
                    <m:r>
                      <m:rPr>
                        <m:nor/>
                      </m:rPr>
                      <a:rPr lang="it-IT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it-IT" i="0" dirty="0">
                        <a:solidFill>
                          <a:schemeClr val="bg1"/>
                        </a:solidFill>
                        <a:latin typeface="Calibri" panose="02020502050305020303" pitchFamily="18" charset="0"/>
                      </a:rPr>
                      <m:t>di</m:t>
                    </m:r>
                    <m:r>
                      <a:rPr lang="it-IT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1−</m:t>
                    </m:r>
                    <m:f>
                      <m:fPr>
                        <m:ctrlPr>
                          <a:rPr lang="it-IT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it-IT" b="0" i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it-IT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lang="it-IT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32257A18-4434-05A8-F028-BBB673E69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766" y="2953656"/>
                <a:ext cx="7674798" cy="497829"/>
              </a:xfrm>
              <a:prstGeom prst="rect">
                <a:avLst/>
              </a:prstGeom>
              <a:blipFill>
                <a:blip r:embed="rId6"/>
                <a:stretch>
                  <a:fillRect l="-635" b="-864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E90E6EF-7787-EC8E-5170-66793C9CC47C}"/>
              </a:ext>
            </a:extLst>
          </p:cNvPr>
          <p:cNvSpPr txBox="1"/>
          <p:nvPr/>
        </p:nvSpPr>
        <p:spPr>
          <a:xfrm>
            <a:off x="240766" y="4427424"/>
            <a:ext cx="6794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>
                <a:solidFill>
                  <a:schemeClr val="bg1"/>
                </a:solidFill>
                <a:latin typeface="Calibri" panose="02020502050305020303" pitchFamily="18" charset="0"/>
              </a:rPr>
              <a:t>Migliorata risolvendo la ricorrenza (soluzione in forma chiusa, senza induzione)</a:t>
            </a:r>
          </a:p>
        </p:txBody>
      </p:sp>
    </p:spTree>
    <p:extLst>
      <p:ext uri="{BB962C8B-B14F-4D97-AF65-F5344CB8AC3E}">
        <p14:creationId xmlns:p14="http://schemas.microsoft.com/office/powerpoint/2010/main" val="3041178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9278361-B278-5945-5F62-FBEDF96905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82880"/>
            <a:ext cx="11277600" cy="750000"/>
          </a:xfrm>
        </p:spPr>
        <p:txBody>
          <a:bodyPr anchor="t">
            <a:normAutofit/>
          </a:bodyPr>
          <a:lstStyle/>
          <a:p>
            <a:pPr algn="l"/>
            <a:r>
              <a:rPr lang="it-IT" sz="3200" b="1" dirty="0">
                <a:solidFill>
                  <a:srgbClr val="1E3A5F"/>
                </a:solidFill>
                <a:latin typeface="Cambria" panose="02020202020202020204" charset="0"/>
              </a:rPr>
              <a:t>Newton-CG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ottotitolo 2">
                <a:extLst>
                  <a:ext uri="{FF2B5EF4-FFF2-40B4-BE49-F238E27FC236}">
                    <a16:creationId xmlns:a16="http://schemas.microsoft.com/office/drawing/2014/main" id="{745BF124-A9E0-2924-11C0-4746DF8BF61A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340353" y="1733013"/>
                <a:ext cx="6603654" cy="935859"/>
              </a:xfr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borderBox>
                        <m:borderBoxPr>
                          <m:ctrlPr>
                            <a:rPr lang="it-IT" sz="20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sSup>
                            <m:sSupPr>
                              <m:ctrlPr>
                                <a:rPr lang="it-IT" sz="200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IT" sz="200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𝛻</m:t>
                              </m:r>
                            </m:e>
                            <m:sup>
                              <m:r>
                                <a:rPr lang="it-IT" sz="200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it-IT" sz="200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00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it-IT" sz="200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200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𝒮</m:t>
                                  </m:r>
                                </m:e>
                                <m:sub>
                                  <m:r>
                                    <a:rPr lang="it-IT" sz="200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it-IT" sz="200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sz="200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200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it-IT" sz="200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r>
                            <a:rPr lang="it-IT" sz="20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it-IT" sz="20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sz="20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𝛻</m:t>
                          </m:r>
                          <m:sSub>
                            <m:sSubPr>
                              <m:ctrlPr>
                                <a:rPr lang="it-IT" sz="200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00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it-IT" sz="200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200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𝒮</m:t>
                                  </m:r>
                                </m:e>
                                <m:sub>
                                  <m:r>
                                    <a:rPr lang="it-IT" sz="200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it-IT" sz="200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sz="200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200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it-IT" sz="200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r>
                            <a:rPr lang="it-IT" sz="20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limLow>
                            <m:limLowPr>
                              <m:ctrlPr>
                                <a:rPr lang="it-IT" sz="200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pos m:val="bot"/>
                                  <m:vertJc m:val="top"/>
                                  <m:ctrlPr>
                                    <a:rPr lang="it-IT" sz="200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sSup>
                                    <m:sSupPr>
                                      <m:ctrlPr>
                                        <a:rPr lang="it-IT" sz="2000" i="1" dirty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it-IT" sz="2000" i="1" dirty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𝛻</m:t>
                                      </m:r>
                                    </m:e>
                                    <m:sup>
                                      <m:r>
                                        <a:rPr lang="it-IT" sz="2000" i="1" dirty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it-IT" sz="2000" i="1" dirty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2000" i="1" dirty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it-IT" sz="2000" i="1" dirty="0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sz="2000" i="1" dirty="0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ℋ</m:t>
                                          </m:r>
                                        </m:e>
                                        <m:sub>
                                          <m:r>
                                            <a:rPr lang="it-IT" sz="2000" i="1" dirty="0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sub>
                                  </m:sSub>
                                  <m:d>
                                    <m:dPr>
                                      <m:ctrlPr>
                                        <a:rPr lang="it-IT" sz="2000" i="1" dirty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it-IT" sz="2000" i="1" dirty="0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sz="2000" i="1" dirty="0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it-IT" sz="2000" i="1" dirty="0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it-IT" sz="200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  <m:r>
                                    <a:rPr lang="it-IT" sz="200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it-IT" sz="200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𝛻</m:t>
                                  </m:r>
                                  <m:sSub>
                                    <m:sSubPr>
                                      <m:ctrlPr>
                                        <a:rPr lang="it-IT" sz="2000" i="1" dirty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2000" i="1" dirty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it-IT" sz="2000" i="1" dirty="0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sz="2000" i="1" dirty="0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𝒮</m:t>
                                          </m:r>
                                        </m:e>
                                        <m:sub>
                                          <m:r>
                                            <a:rPr lang="it-IT" sz="2000" i="1" dirty="0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sub>
                                  </m:sSub>
                                  <m:d>
                                    <m:dPr>
                                      <m:ctrlPr>
                                        <a:rPr lang="it-IT" sz="2000" i="1" dirty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it-IT" sz="2000" i="1" dirty="0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sz="2000" i="1" dirty="0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it-IT" sz="2000" i="1" dirty="0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groupChr>
                            </m:e>
                            <m:lim>
                              <m:r>
                                <m:rPr>
                                  <m:nor/>
                                </m:rPr>
                                <a:rPr lang="it-IT" sz="2000" b="0" i="0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m:rPr>
                                  <m:nor/>
                                </m:rPr>
                                <a:rPr lang="it-IT" sz="2000" i="0" dirty="0" smtClean="0">
                                  <a:solidFill>
                                    <a:schemeClr val="bg1"/>
                                  </a:solidFill>
                                  <a:latin typeface="Calibri" panose="02020502050305020303" pitchFamily="18" charset="0"/>
                                </a:rPr>
                                <m:t>esiduo del CG</m:t>
                              </m:r>
                            </m:lim>
                          </m:limLow>
                          <m:r>
                            <a:rPr lang="it-IT" sz="200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limLow>
                            <m:limLowPr>
                              <m:ctrlPr>
                                <a:rPr lang="it-IT" sz="200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pos m:val="bot"/>
                                  <m:vertJc m:val="top"/>
                                  <m:ctrlPr>
                                    <a:rPr lang="it-IT" sz="200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d>
                                    <m:dPr>
                                      <m:ctrlPr>
                                        <a:rPr lang="it-IT" sz="2000" i="1" dirty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it-IT" sz="2000" i="1" dirty="0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it-IT" sz="2000" i="1" dirty="0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𝛻</m:t>
                                          </m:r>
                                        </m:e>
                                        <m:sup>
                                          <m:r>
                                            <a:rPr lang="it-IT" sz="2000" i="1" dirty="0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sSub>
                                        <m:sSubPr>
                                          <m:ctrlPr>
                                            <a:rPr lang="it-IT" sz="2000" i="1" dirty="0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sz="2000" i="1" dirty="0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𝐽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it-IT" sz="2000" i="1" dirty="0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it-IT" sz="2000" i="1" dirty="0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𝒮</m:t>
                                              </m:r>
                                            </m:e>
                                            <m:sub>
                                              <m:r>
                                                <a:rPr lang="it-IT" sz="2000" i="1" dirty="0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it-IT" sz="2000" i="1" dirty="0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it-IT" sz="2000" i="1" dirty="0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it-IT" sz="2000" i="1" dirty="0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a:rPr lang="it-IT" sz="2000" i="1" dirty="0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it-IT" sz="2000" i="1" dirty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p>
                                        <m:sSupPr>
                                          <m:ctrlPr>
                                            <a:rPr lang="it-IT" sz="2000" i="1" dirty="0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it-IT" sz="2000" i="1" dirty="0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𝛻</m:t>
                                          </m:r>
                                        </m:e>
                                        <m:sup>
                                          <m:r>
                                            <a:rPr lang="it-IT" sz="2000" i="1" dirty="0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sSub>
                                        <m:sSubPr>
                                          <m:ctrlPr>
                                            <a:rPr lang="it-IT" sz="2000" i="1" dirty="0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sz="2000" i="1" dirty="0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𝐽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lang="it-IT" sz="2000" i="1" dirty="0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it-IT" sz="2000" i="1" dirty="0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ℋ</m:t>
                                              </m:r>
                                            </m:e>
                                            <m:sub>
                                              <m:r>
                                                <a:rPr lang="it-IT" sz="2000" i="1" dirty="0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it-IT" sz="2000" i="1" dirty="0" smtClean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it-IT" sz="2000" i="1" dirty="0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it-IT" sz="2000" i="1" dirty="0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a:rPr lang="it-IT" sz="2000" i="1" dirty="0" smtClean="0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  <m:r>
                                    <a:rPr lang="it-IT" sz="200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groupChr>
                            </m:e>
                            <m:lim>
                              <m:sSub>
                                <m:sSubPr>
                                  <m:ctrlPr>
                                    <a:rPr lang="it-IT" sz="200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it-IT" sz="200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it-IT" sz="2000" i="1" dirty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2000" i="1" dirty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ℋ</m:t>
                                      </m:r>
                                    </m:e>
                                    <m:sub>
                                      <m:r>
                                        <a:rPr lang="it-IT" sz="2000" i="1" dirty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sub>
                              </m:sSub>
                              <m:d>
                                <m:dPr>
                                  <m:ctrlPr>
                                    <a:rPr lang="it-IT" sz="200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it-IT" sz="2000" i="1" dirty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z="2000" i="1" dirty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it-IT" sz="2000" i="1" dirty="0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it-IT" sz="200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it-IT" sz="2000" i="1" dirty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d>
                            </m:lim>
                          </m:limLow>
                        </m:e>
                      </m:borderBox>
                    </m:oMath>
                  </m:oMathPara>
                </a14:m>
                <a:endParaRPr lang="it-IT" sz="2000" dirty="0">
                  <a:solidFill>
                    <a:schemeClr val="bg1"/>
                  </a:solidFill>
                  <a:latin typeface="Calibri" panose="02020502050305020303" pitchFamily="18" charset="0"/>
                </a:endParaRPr>
              </a:p>
              <a:p>
                <a:endParaRPr lang="it-IT" sz="2000" dirty="0">
                  <a:solidFill>
                    <a:schemeClr val="bg1"/>
                  </a:solidFill>
                  <a:latin typeface="Calibri" panose="02020502050305020303" pitchFamily="18" charset="0"/>
                </a:endParaRPr>
              </a:p>
            </p:txBody>
          </p:sp>
        </mc:Choice>
        <mc:Fallback xmlns="">
          <p:sp>
            <p:nvSpPr>
              <p:cNvPr id="3" name="Sottotitolo 2">
                <a:extLst>
                  <a:ext uri="{FF2B5EF4-FFF2-40B4-BE49-F238E27FC236}">
                    <a16:creationId xmlns:a16="http://schemas.microsoft.com/office/drawing/2014/main" id="{745BF124-A9E0-2924-11C0-4746DF8BF6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340353" y="1733013"/>
                <a:ext cx="6603654" cy="935859"/>
              </a:xfrm>
              <a:blipFill>
                <a:blip r:embed="rId3"/>
                <a:stretch>
                  <a:fillRect r="-37211" b="-2337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388A7AC9-94E0-29DD-3537-F0DF3A51B3DC}"/>
                  </a:ext>
                </a:extLst>
              </p:cNvPr>
              <p:cNvSpPr txBox="1"/>
              <p:nvPr/>
            </p:nvSpPr>
            <p:spPr>
              <a:xfrm>
                <a:off x="6352840" y="2922370"/>
                <a:ext cx="5369547" cy="8306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it-IT" sz="20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it-IT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it-IT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it-IT" sz="2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it-IT" sz="2000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it-IT" sz="2000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Δ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it-IT" sz="2000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sz="2000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ℋ</m:t>
                                          </m:r>
                                        </m:e>
                                        <m:sub>
                                          <m:r>
                                            <a:rPr lang="it-IT" sz="20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sub>
                                  </m:sSub>
                                  <m:d>
                                    <m:dPr>
                                      <m:ctrlPr>
                                        <a:rPr lang="it-IT" sz="20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it-IT" sz="20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sz="20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  <m:sub>
                                          <m:r>
                                            <a:rPr lang="it-IT" sz="20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r>
                                        <a:rPr lang="it-IT" sz="2000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;</m:t>
                                      </m:r>
                                      <m:r>
                                        <a:rPr lang="it-IT" sz="20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b>
                              <m:r>
                                <a:rPr lang="it-IT" sz="20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it-IT" sz="20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r>
                        <a:rPr lang="it-IT" sz="20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it-IT" sz="20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it-IT" sz="2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it-IT" sz="2000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it-IT" sz="2000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Var</m:t>
                                      </m:r>
                                    </m:e>
                                    <m:sub>
                                      <m:r>
                                        <a:rPr lang="it-IT" sz="20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it-IT" sz="2000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∈</m:t>
                                      </m:r>
                                      <m:sSub>
                                        <m:sSubPr>
                                          <m:ctrlPr>
                                            <a:rPr lang="it-IT" sz="2000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it-IT" sz="2000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ℋ</m:t>
                                          </m:r>
                                        </m:e>
                                        <m:sub>
                                          <m:r>
                                            <a:rPr lang="it-IT" sz="20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sub>
                                  </m:sSub>
                                  <m:d>
                                    <m:dPr>
                                      <m:ctrlPr>
                                        <a:rPr lang="it-IT" sz="20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it-IT" sz="20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it-IT" sz="20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𝛻</m:t>
                                          </m:r>
                                        </m:e>
                                        <m:sup>
                                          <m:r>
                                            <a:rPr lang="it-IT" sz="2000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m:rPr>
                                          <m:sty m:val="p"/>
                                        </m:rPr>
                                        <a:rPr lang="it-IT" sz="2000" i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ℓ</m:t>
                                      </m:r>
                                      <m:d>
                                        <m:dPr>
                                          <m:ctrlPr>
                                            <a:rPr lang="it-IT" sz="20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it-IT" sz="20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it-IT" sz="20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a:rPr lang="it-IT" sz="2000" i="1">
                                                  <a:solidFill>
                                                    <a:schemeClr val="bg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  <m:r>
                                            <a:rPr lang="it-IT" sz="2000" i="0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;</m:t>
                                          </m:r>
                                          <m:r>
                                            <a:rPr lang="it-IT" sz="2000" i="1">
                                              <a:solidFill>
                                                <a:schemeClr val="bg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  <m:r>
                                        <a:rPr lang="it-IT" sz="20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b>
                              <m:r>
                                <a:rPr lang="it-IT" sz="20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it-IT" sz="20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sz="2000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2000" i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ℋ</m:t>
                                  </m:r>
                                </m:e>
                                <m:sub>
                                  <m:r>
                                    <a:rPr lang="it-IT" sz="20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it-IT" sz="2000" dirty="0">
                  <a:solidFill>
                    <a:schemeClr val="bg1"/>
                  </a:solidFill>
                  <a:latin typeface="Calibri" panose="02020502050305020303" pitchFamily="18" charset="0"/>
                </a:endParaRPr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388A7AC9-94E0-29DD-3537-F0DF3A51B3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2840" y="2922370"/>
                <a:ext cx="5369547" cy="8306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asellaDiTesto 5">
            <a:extLst>
              <a:ext uri="{FF2B5EF4-FFF2-40B4-BE49-F238E27FC236}">
                <a16:creationId xmlns:a16="http://schemas.microsoft.com/office/drawing/2014/main" id="{EC925060-9CF3-8070-432F-1FF45659427E}"/>
              </a:ext>
            </a:extLst>
          </p:cNvPr>
          <p:cNvSpPr txBox="1"/>
          <p:nvPr/>
        </p:nvSpPr>
        <p:spPr>
          <a:xfrm>
            <a:off x="340353" y="3219134"/>
            <a:ext cx="63609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>
                <a:solidFill>
                  <a:schemeClr val="bg1"/>
                </a:solidFill>
                <a:latin typeface="Calibri" panose="02020502050305020303" pitchFamily="18" charset="0"/>
              </a:rPr>
              <a:t>Il metodo CG si ferma quando l’errore è confrontabile con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80069B15-23AC-1618-EC7B-D1928AB35A1D}"/>
                  </a:ext>
                </a:extLst>
              </p:cNvPr>
              <p:cNvSpPr txBox="1"/>
              <p:nvPr/>
            </p:nvSpPr>
            <p:spPr>
              <a:xfrm>
                <a:off x="2624981" y="1337584"/>
                <a:ext cx="785477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sSub>
                          <m:sSubPr>
                            <m:ctrlPr>
                              <a:rPr lang="it-IT" i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ℋ</m:t>
                            </m:r>
                          </m:e>
                          <m:sub>
                            <m:r>
                              <a:rPr lang="it-IT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it-IT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it-IT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it-IT" i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sSubPr>
                        <m:ctrlPr>
                          <a:rPr lang="it-IT" b="0" i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it-IT" b="0" i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it-IT" i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it-IT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𝛻</m:t>
                    </m:r>
                    <m:sSub>
                      <m:sSubPr>
                        <m:ctrlPr>
                          <a:rPr lang="it-IT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sSub>
                          <m:sSubPr>
                            <m:ctrlPr>
                              <a:rPr lang="it-IT" i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𝒮</m:t>
                            </m:r>
                          </m:e>
                          <m:sub>
                            <m:r>
                              <a:rPr lang="it-IT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it-IT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it-IT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it-IT" dirty="0">
                    <a:solidFill>
                      <a:schemeClr val="bg1"/>
                    </a:solidFill>
                  </a:rPr>
                  <a:t> </a:t>
                </a:r>
                <a:r>
                  <a:rPr lang="it-IT" sz="20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con il metodo del gradiente coniugato Hessian free</a:t>
                </a:r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80069B15-23AC-1618-EC7B-D1928AB35A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4981" y="1337584"/>
                <a:ext cx="7854779" cy="400110"/>
              </a:xfrm>
              <a:prstGeom prst="rect">
                <a:avLst/>
              </a:prstGeom>
              <a:blipFill>
                <a:blip r:embed="rId5"/>
                <a:stretch>
                  <a:fillRect l="-155" t="-10606" b="-2272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E3736AB-5DCC-E862-0715-2D80071BCD78}"/>
              </a:ext>
            </a:extLst>
          </p:cNvPr>
          <p:cNvSpPr txBox="1"/>
          <p:nvPr/>
        </p:nvSpPr>
        <p:spPr>
          <a:xfrm>
            <a:off x="403728" y="1343275"/>
            <a:ext cx="23117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dirty="0">
                <a:solidFill>
                  <a:schemeClr val="bg1"/>
                </a:solidFill>
                <a:latin typeface="Calibri" panose="02020502050305020303" pitchFamily="18" charset="0"/>
              </a:rPr>
              <a:t>Risolviamo il sistema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14BADE2D-86CE-B62F-4CEF-90298CD0D14C}"/>
                  </a:ext>
                </a:extLst>
              </p:cNvPr>
              <p:cNvSpPr txBox="1"/>
              <p:nvPr/>
            </p:nvSpPr>
            <p:spPr>
              <a:xfrm>
                <a:off x="340353" y="3826936"/>
                <a:ext cx="11519628" cy="29683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sz="20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Nella prima iterazione il residuo 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it-IT" sz="20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it-IT" sz="20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=</a:t>
                </a:r>
                <a:r>
                  <a:rPr lang="it-IT" sz="20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it-IT" sz="2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𝛻</m:t>
                    </m:r>
                    <m:sSub>
                      <m:sSubPr>
                        <m:ctrlPr>
                          <a:rPr lang="it-IT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sSub>
                          <m:sSubPr>
                            <m:ctrlPr>
                              <a:rPr lang="it-IT" sz="200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00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𝒮</m:t>
                            </m:r>
                          </m:e>
                          <m:sub>
                            <m:r>
                              <a:rPr lang="it-IT" sz="2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it-IT" sz="2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sz="2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it-IT" sz="20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it-IT" sz="20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 (partiamo da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it-IT" sz="2000" i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t-IT" sz="20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=0), sfruttando l’omogeneità della varianza, </a:t>
                </a:r>
              </a:p>
              <a:p>
                <a:r>
                  <a:rPr lang="it-IT" sz="20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possiamo calcolarla sulla prima direzione di ricerca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it-IT" sz="2000" i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it-IT" sz="200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​=−</m:t>
                    </m:r>
                    <m:sSub>
                      <m:sSubPr>
                        <m:ctrlPr>
                          <a:rPr lang="it-IT" sz="20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it-IT" sz="20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it-IT" sz="20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​ ,</a:t>
                </a:r>
              </a:p>
              <a:p>
                <a:pPr latinLnBrk="1"/>
                <a:r>
                  <a:rPr lang="it-IT" sz="20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 e per le direzioni successive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 dirty="0" err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 dirty="0" err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it-IT" sz="2000" i="1" dirty="0" err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it-IT" sz="20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 usiamo l'approssimazione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it-IT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it-IT" i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it-IT" i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Var</m:t>
                                </m:r>
                              </m:e>
                              <m:sub>
                                <m:r>
                                  <a:rPr lang="it-IT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it-IT" i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sSub>
                                  <m:sSubPr>
                                    <m:ctrlPr>
                                      <a:rPr lang="it-IT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ℋ</m:t>
                                    </m:r>
                                  </m:e>
                                  <m:sub>
                                    <m:r>
                                      <a:rPr lang="it-IT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sub>
                            </m:sSub>
                            <m:d>
                              <m:dPr>
                                <m:ctrlPr>
                                  <a:rPr lang="it-IT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it-IT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it-IT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𝛻</m:t>
                                    </m:r>
                                  </m:e>
                                  <m:sup>
                                    <m:r>
                                      <a:rPr lang="it-IT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it-IT" i="0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ℓ</m:t>
                                </m:r>
                                <m:d>
                                  <m:dPr>
                                    <m:ctrlPr>
                                      <a:rPr lang="it-IT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it-IT" i="1" dirty="0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i="1" dirty="0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it-IT" i="1" dirty="0" smtClean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 lang="it-IT" i="0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;</m:t>
                                    </m:r>
                                    <m:r>
                                      <a:rPr lang="it-IT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  <m:sSub>
                                  <m:sSubPr>
                                    <m:ctrlPr>
                                      <a:rPr lang="it-IT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it-IT" i="1" dirty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b>
                        <m:r>
                          <a:rPr lang="it-IT" i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t-IT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it-IT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sSubSup>
                      <m:sSubSupPr>
                        <m:ctrlPr>
                          <a:rPr lang="it-IT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it-IT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it-IT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it-IT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it-IT" i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it-IT" i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it-IT" sz="2000" dirty="0">
                    <a:solidFill>
                      <a:schemeClr val="bg1"/>
                    </a:solidFill>
                  </a:rPr>
                  <a:t> </a:t>
                </a:r>
              </a:p>
              <a:p>
                <a:pPr latinLnBrk="1"/>
                <a:r>
                  <a:rPr lang="it-IT" sz="20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con</a:t>
                </a:r>
                <a14:m>
                  <m:oMath xmlns:m="http://schemas.openxmlformats.org/officeDocument/2006/math">
                    <m:r>
                      <a:rPr lang="it-IT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it-IT" i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:=</m:t>
                    </m:r>
                    <m:f>
                      <m:fPr>
                        <m:ctrlPr>
                          <a:rPr lang="it-IT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it-IT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it-IT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it-IT" i="0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it-IT" i="0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Var</m:t>
                                    </m:r>
                                  </m:e>
                                  <m:sub>
                                    <m:r>
                                      <a:rPr lang="it-IT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it-IT" i="0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∈</m:t>
                                    </m:r>
                                    <m:sSub>
                                      <m:sSubPr>
                                        <m:ctrlPr>
                                          <a:rPr lang="it-IT" i="0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i="0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ℋ</m:t>
                                        </m:r>
                                      </m:e>
                                      <m:sub>
                                        <m:r>
                                          <a:rPr lang="it-IT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sub>
                                </m:sSub>
                                <m:d>
                                  <m:dPr>
                                    <m:ctrlPr>
                                      <a:rPr lang="it-IT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it-IT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it-IT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𝛻</m:t>
                                        </m:r>
                                      </m:e>
                                      <m:sup>
                                        <m:r>
                                          <a:rPr lang="it-IT" i="0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it-IT" i="0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ℓ</m:t>
                                    </m:r>
                                    <m:d>
                                      <m:dPr>
                                        <m:ctrlPr>
                                          <a:rPr lang="it-IT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it-IT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it-IT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it-IT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  <m:r>
                                          <a:rPr lang="it-IT" i="0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;</m:t>
                                        </m:r>
                                        <m:r>
                                          <a:rPr lang="it-IT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it-IT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it-IT" i="0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  <m:sub>
                            <m:r>
                              <a:rPr lang="it-IT" i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Sup>
                          <m:sSubSupPr>
                            <m:ctrlPr>
                              <a:rPr lang="it-IT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it-IT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it-IT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it-IT" i="0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it-IT" i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it-IT" i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it-IT" sz="20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, poniamo </a:t>
                </a:r>
                <a14:m>
                  <m:oMath xmlns:m="http://schemas.openxmlformats.org/officeDocument/2006/math">
                    <m:r>
                      <a:rPr lang="it-IT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r>
                      <a:rPr lang="it-IT" i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:=</m:t>
                    </m:r>
                    <m:f>
                      <m:fPr>
                        <m:ctrlPr>
                          <a:rPr lang="it-IT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it-IT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it-IT" i="0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0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ℋ</m:t>
                                </m:r>
                              </m:e>
                              <m:sub>
                                <m:r>
                                  <a:rPr lang="it-IT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endParaRPr lang="it-IT" dirty="0">
                  <a:solidFill>
                    <a:schemeClr val="bg1"/>
                  </a:solidFill>
                </a:endParaRPr>
              </a:p>
              <a:p>
                <a:br>
                  <a:rPr lang="it-IT" sz="2000" dirty="0">
                    <a:solidFill>
                      <a:schemeClr val="bg1"/>
                    </a:solidFill>
                  </a:rPr>
                </a:br>
                <a:br>
                  <a:rPr lang="it-IT" sz="2000" dirty="0">
                    <a:solidFill>
                      <a:schemeClr val="bg1"/>
                    </a:solidFill>
                  </a:rPr>
                </a:br>
                <a:br>
                  <a:rPr lang="it-IT" sz="2000" dirty="0">
                    <a:solidFill>
                      <a:schemeClr val="bg1"/>
                    </a:solidFill>
                  </a:rPr>
                </a:br>
                <a:endParaRPr lang="it-IT" sz="2000" dirty="0">
                  <a:solidFill>
                    <a:schemeClr val="bg1"/>
                  </a:solidFill>
                  <a:latin typeface="Calibri" panose="02020502050305020303" pitchFamily="18" charset="0"/>
                </a:endParaRPr>
              </a:p>
            </p:txBody>
          </p:sp>
        </mc:Choice>
        <mc:Fallback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14BADE2D-86CE-B62F-4CEF-90298CD0D1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353" y="3826936"/>
                <a:ext cx="11519628" cy="2968377"/>
              </a:xfrm>
              <a:prstGeom prst="rect">
                <a:avLst/>
              </a:prstGeom>
              <a:blipFill>
                <a:blip r:embed="rId6"/>
                <a:stretch>
                  <a:fillRect l="-582" t="-102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2546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1">
            <a:extLst>
              <a:ext uri="{FF2B5EF4-FFF2-40B4-BE49-F238E27FC236}">
                <a16:creationId xmlns:a16="http://schemas.microsoft.com/office/drawing/2014/main" id="{0BA5AC86-F1E2-FD39-A649-8978C6718D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82880"/>
            <a:ext cx="11277600" cy="750000"/>
          </a:xfrm>
        </p:spPr>
        <p:txBody>
          <a:bodyPr anchor="t">
            <a:normAutofit/>
          </a:bodyPr>
          <a:lstStyle/>
          <a:p>
            <a:pPr algn="l"/>
            <a:r>
              <a:rPr lang="it-IT" sz="3200" b="1" dirty="0">
                <a:solidFill>
                  <a:srgbClr val="1E3A5F"/>
                </a:solidFill>
                <a:latin typeface="Cambria" panose="02020202020202020204" charset="0"/>
              </a:rPr>
              <a:t>Newton-CG: Schema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B83409C0-3287-FDDF-ADA5-C266FC666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8325" y="-34019"/>
            <a:ext cx="6543676" cy="6834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273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B04957D-77A1-0B90-C465-B267D8456B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82880"/>
            <a:ext cx="11277600" cy="750000"/>
          </a:xfrm>
        </p:spPr>
        <p:txBody>
          <a:bodyPr anchor="t">
            <a:normAutofit/>
          </a:bodyPr>
          <a:lstStyle/>
          <a:p>
            <a:pPr algn="l"/>
            <a:r>
              <a:rPr lang="it-IT" sz="3200" b="1" dirty="0">
                <a:solidFill>
                  <a:srgbClr val="1E3A5F"/>
                </a:solidFill>
                <a:latin typeface="Cambria" panose="02020202020202020204" charset="0"/>
              </a:rPr>
              <a:t>Newton-CG L1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ottotitolo 2">
                <a:extLst>
                  <a:ext uri="{FF2B5EF4-FFF2-40B4-BE49-F238E27FC236}">
                    <a16:creationId xmlns:a16="http://schemas.microsoft.com/office/drawing/2014/main" id="{064B1DAA-B5D8-15D0-1F83-57A80E4EA5E4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240515" y="1046850"/>
                <a:ext cx="3124985" cy="1072678"/>
              </a:xfr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l-PL" sz="20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l-PL" sz="20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pl-PL" sz="20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sz="20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pl-PL" sz="20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sz="20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pl-PL" sz="20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l-PL" sz="20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𝜈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pl-PL" sz="20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l-PL" sz="20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l-PL" sz="20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l-PL" sz="20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pl-PL" sz="20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l-PL" sz="20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sz="20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pl-PL" sz="20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it-IT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Sottotitolo 2">
                <a:extLst>
                  <a:ext uri="{FF2B5EF4-FFF2-40B4-BE49-F238E27FC236}">
                    <a16:creationId xmlns:a16="http://schemas.microsoft.com/office/drawing/2014/main" id="{064B1DAA-B5D8-15D0-1F83-57A80E4EA5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240515" y="1046850"/>
                <a:ext cx="3124985" cy="107267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384CD091-DD86-C9B1-CA1A-DE350B16BF87}"/>
                  </a:ext>
                </a:extLst>
              </p:cNvPr>
              <p:cNvSpPr txBox="1"/>
              <p:nvPr/>
            </p:nvSpPr>
            <p:spPr>
              <a:xfrm>
                <a:off x="240515" y="2008616"/>
                <a:ext cx="7500771" cy="12058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l-PL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pl-PL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̅"/>
                                  <m:ctrlPr>
                                    <a:rPr lang="pl-PL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pl-PL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𝛻</m:t>
                                  </m:r>
                                </m:e>
                              </m:acc>
                              <m:r>
                                <a:rPr lang="pl-PL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d>
                                <m:dPr>
                                  <m:ctrlPr>
                                    <a:rPr lang="pl-PL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l-PL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pl-PL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l-PL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pl-PL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pos m:val="bot"/>
                              <m:vertJc m:val="top"/>
                              <m:ctrlPr>
                                <a:rPr lang="pl-PL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f>
                                <m:fPr>
                                  <m:ctrlPr>
                                    <a:rPr lang="pl-PL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pl-PL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d>
                                    <m:dPr>
                                      <m:ctrlPr>
                                        <a:rPr lang="pl-PL" i="1" dirty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l-PL" i="1" dirty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pl-PL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>
                                    <m:sSubPr>
                                      <m:ctrlPr>
                                        <a:rPr lang="pl-PL" i="1" dirty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l-PL" i="1" dirty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pl-PL" i="1" dirty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pl-PL" i="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gradiente di </m:t>
                          </m:r>
                          <m:r>
                            <a:rPr lang="pl-PL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lim>
                      </m:limLow>
                      <m:r>
                        <a:rPr lang="pl-PL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limLow>
                        <m:limLowPr>
                          <m:ctrlPr>
                            <a:rPr lang="pl-PL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pos m:val="bot"/>
                              <m:vertJc m:val="top"/>
                              <m:ctrlPr>
                                <a:rPr lang="pl-PL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b>
                                <m:sSubPr>
                                  <m:ctrlPr>
                                    <a:rPr lang="pl-PL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pl-PL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groupChr>
                        </m:e>
                        <m:lim>
                          <m:r>
                            <m:rPr>
                              <m:nor/>
                            </m:rPr>
                            <a:rPr lang="pl-PL" i="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subgradiente di </m:t>
                          </m:r>
                          <m:r>
                            <a:rPr lang="pl-PL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𝜈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pl-PL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l-PL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pl-PL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lim>
                      </m:limLow>
                      <m:r>
                        <a:rPr lang="pl-PL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, </m:t>
                      </m:r>
                      <m:sSub>
                        <m:sSubPr>
                          <m:ctrlPr>
                            <a:rPr lang="pl-PL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pl-PL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l-PL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"/>
                          <m:ctrlPr>
                            <a:rPr lang="pl-PL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pl-PL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pl-PL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l-PL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pl-PL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𝜈</m:t>
                                    </m:r>
                                  </m:e>
                                </m:d>
                                <m:r>
                                  <a:rPr lang="pl-PL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pl-PL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l-PL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pl-PL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pl-PL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&gt;0,</m:t>
                                </m:r>
                              </m:e>
                            </m:mr>
                            <m:mr>
                              <m:e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pl-PL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pl-PL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pl-PL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𝜈</m:t>
                                    </m:r>
                                  </m:e>
                                </m:d>
                                <m:r>
                                  <a:rPr lang="pl-PL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pl-PL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l-PL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pl-PL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pl-PL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&lt;0,</m:t>
                                </m:r>
                              </m:e>
                            </m:mr>
                            <m:mr>
                              <m:e>
                                <m:r>
                                  <a:rPr lang="it-IT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[−</m:t>
                                </m:r>
                                <m:r>
                                  <a:rPr lang="it-IT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𝜈</m:t>
                                </m:r>
                                <m:r>
                                  <a:rPr lang="it-IT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it-IT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𝜈</m:t>
                                </m:r>
                                <m:r>
                                  <a:rPr lang="it-IT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pl-PL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l-PL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pl-PL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pl-PL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=0.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384CD091-DD86-C9B1-CA1A-DE350B16B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515" y="2008616"/>
                <a:ext cx="7500771" cy="12058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2A5FFA32-ACDC-C589-B848-462146FF2C2C}"/>
                  </a:ext>
                </a:extLst>
              </p:cNvPr>
              <p:cNvSpPr txBox="1"/>
              <p:nvPr/>
            </p:nvSpPr>
            <p:spPr>
              <a:xfrm>
                <a:off x="72103" y="3214459"/>
                <a:ext cx="11785600" cy="15120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20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 Quando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it-IT" sz="20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it-IT" sz="20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 c'è libertà su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it-IT" sz="20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it-IT" sz="20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0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  <m:e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𝜈</m:t>
                        </m:r>
                        <m:r>
                          <a:rPr lang="it-IT" sz="20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</m:d>
                  </m:oMath>
                </a14:m>
                <a:r>
                  <a:rPr lang="it-IT" sz="20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; la scelta è fatta in modo che in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it-IT" sz="20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it-IT" sz="20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 valga 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sz="20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it-IT" sz="20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</m:acc>
                    <m:r>
                      <a:rPr lang="it-IT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it-IT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it-IT" sz="20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it-IT" sz="20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it-IT" sz="20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. Posto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it-IT" sz="20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:=</m:t>
                    </m:r>
                    <m:f>
                      <m:fPr>
                        <m:ctrlPr>
                          <a:rPr lang="it-IT" sz="20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20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  <m:d>
                          <m:dPr>
                            <m:ctrlPr>
                              <a:rPr lang="it-IT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d>
                      </m:num>
                      <m:den>
                        <m:r>
                          <a:rPr lang="it-IT" sz="20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it-IT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it-IT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</m:oMath>
                </a14:m>
                <a:r>
                  <a:rPr lang="it-IT" sz="20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 (così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["/>
                            <m:endChr m:val="]"/>
                            <m:ctrlPr>
                              <a:rPr lang="it-IT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it-IT" sz="20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it-IT" sz="20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∇</m:t>
                                </m:r>
                              </m:e>
                            </m:acc>
                            <m:r>
                              <a:rPr lang="it-IT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</m:d>
                      </m:e>
                      <m:sub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it-IT" sz="20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it-IT" sz="20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it-IT" sz="20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), si prende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sv-SE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sv-SE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sv-SE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sv-SE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arg</m:t>
                        </m:r>
                      </m:fName>
                      <m:e>
                        <m:func>
                          <m:funcPr>
                            <m:ctrlPr>
                              <a:rPr lang="sv-SE" sz="2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sv-SE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sv-SE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sv-SE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  <m:r>
                                  <a:rPr lang="sv-SE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∈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sv-SE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sv-SE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sv-SE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𝜈</m:t>
                                    </m:r>
                                    <m:r>
                                      <a:rPr lang="sv-SE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sv-SE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𝜈</m:t>
                                    </m:r>
                                  </m:e>
                                </m:d>
                              </m:lim>
                            </m:limLow>
                          </m:fName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sv-SE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sv-SE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sv-SE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sv-SE" sz="2000" i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sv-SE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sv-SE" sz="2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</m:d>
                          </m:e>
                        </m:func>
                      </m:e>
                    </m:func>
                  </m:oMath>
                </a14:m>
                <a:r>
                  <a:rPr lang="it-IT" sz="20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: il </a:t>
                </a:r>
                <a:r>
                  <a:rPr lang="it-IT" sz="2000" dirty="0" err="1">
                    <a:solidFill>
                      <a:schemeClr val="bg1"/>
                    </a:solidFill>
                    <a:latin typeface="Calibri" panose="02020502050305020303" pitchFamily="18" charset="0"/>
                  </a:rPr>
                  <a:t>subgradiente</a:t>
                </a:r>
                <a:r>
                  <a:rPr lang="it-IT" sz="20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 che rende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it-IT" sz="20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it-IT" sz="20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 il più vicino possibile a zero, così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it-IT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it-IT" sz="20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it-IT" sz="20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 è riconosciuto come vero minimo quando lo è. Definiamo ora il vettore che codifica la decisione che prendiamo su ogni variabile (tenerla libera o bloccarla)</a:t>
                </a:r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2A5FFA32-ACDC-C589-B848-462146FF2C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03" y="3214459"/>
                <a:ext cx="11785600" cy="1512081"/>
              </a:xfrm>
              <a:prstGeom prst="rect">
                <a:avLst/>
              </a:prstGeom>
              <a:blipFill>
                <a:blip r:embed="rId4"/>
                <a:stretch>
                  <a:fillRect l="-569" t="-1613" r="-207" b="-645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06D6F314-4F76-9A92-B9B6-8A939902568F}"/>
                  </a:ext>
                </a:extLst>
              </p:cNvPr>
              <p:cNvSpPr txBox="1"/>
              <p:nvPr/>
            </p:nvSpPr>
            <p:spPr>
              <a:xfrm>
                <a:off x="72103" y="4863708"/>
                <a:ext cx="5262146" cy="16853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it-IT" i="1" dirty="0" err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i="1" dirty="0" err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it-IT" i="1" dirty="0" err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it-IT" i="1" dirty="0" err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it-IT" i="0" dirty="0" err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it-IT" i="1" dirty="0" err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it-IT" i="1" dirty="0" err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it-IT" i="0" dirty="0" err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it-IT" i="1" dirty="0" err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it-IT" i="1" dirty="0" err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it-IT" i="1" dirty="0" err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it-IT" i="1" dirty="0" err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bSup>
                                <m:r>
                                  <a:rPr lang="it-IT" i="0" dirty="0" err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&gt;0</m:t>
                                </m:r>
                                <m:r>
                                  <m:rPr>
                                    <m:nor/>
                                  </m:rPr>
                                  <a:rPr lang="it-IT" i="0" dirty="0" err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oppure </m:t>
                                </m:r>
                                <m:d>
                                  <m:dPr>
                                    <m:ctrlPr>
                                      <a:rPr lang="it-IT" i="1" dirty="0" err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it-IT" i="1" dirty="0" err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it-IT" i="1" dirty="0" err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it-IT" i="1" dirty="0" err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 lang="it-IT" i="1" dirty="0" err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p>
                                    </m:sSubSup>
                                    <m:r>
                                      <a:rPr lang="it-IT" i="0" dirty="0" err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it-IT" i="0" dirty="0" err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e </m:t>
                                    </m:r>
                                    <m:f>
                                      <m:fPr>
                                        <m:ctrlPr>
                                          <a:rPr lang="it-IT" i="1" dirty="0" err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it-IT" i="1" dirty="0" err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it-IT" i="1" dirty="0" err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it-IT" i="1" dirty="0" err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𝐽</m:t>
                                            </m:r>
                                          </m:e>
                                          <m:sub>
                                            <m:sSub>
                                              <m:sSubPr>
                                                <m:ctrlPr>
                                                  <a:rPr lang="it-IT" i="0" dirty="0" err="1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it-IT" i="0" dirty="0" err="1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𝒮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it-IT" i="1" dirty="0" err="1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𝑘</m:t>
                                                </m:r>
                                              </m:sub>
                                            </m:sSub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it-IT" i="1" dirty="0" err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it-IT" i="1" dirty="0" err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it-IT" i="1" dirty="0" err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it-IT" i="1" dirty="0" err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  <m:r>
                                      <a:rPr lang="it-IT" i="0" dirty="0" err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&lt;−</m:t>
                                    </m:r>
                                    <m:r>
                                      <a:rPr lang="it-IT" i="1" dirty="0" err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𝜈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it-IT" i="0" dirty="0" err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it-IT" i="1" dirty="0" err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it-IT" i="1" dirty="0" err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it-IT" i="1" dirty="0" err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  <m:sup>
                                    <m:r>
                                      <a:rPr lang="it-IT" i="1" dirty="0" err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bSup>
                                <m:r>
                                  <a:rPr lang="it-IT" i="0" dirty="0" err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&lt;0</m:t>
                                </m:r>
                                <m:r>
                                  <m:rPr>
                                    <m:nor/>
                                  </m:rPr>
                                  <a:rPr lang="it-IT" i="0" dirty="0" err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oppure </m:t>
                                </m:r>
                                <m:d>
                                  <m:dPr>
                                    <m:ctrlPr>
                                      <a:rPr lang="it-IT" i="1" dirty="0" err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it-IT" i="1" dirty="0" err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it-IT" i="1" dirty="0" err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it-IT" i="1" dirty="0" err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  <m:sup>
                                        <m:r>
                                          <a:rPr lang="it-IT" i="1" dirty="0" err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p>
                                    </m:sSubSup>
                                    <m:r>
                                      <a:rPr lang="it-IT" i="0" dirty="0" err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it-IT" i="0" dirty="0" err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 e </m:t>
                                    </m:r>
                                    <m:f>
                                      <m:fPr>
                                        <m:ctrlPr>
                                          <a:rPr lang="it-IT" i="1" dirty="0" err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it-IT" i="1" dirty="0" err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it-IT" i="1" dirty="0" err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it-IT" i="1" dirty="0" err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𝐽</m:t>
                                            </m:r>
                                          </m:e>
                                          <m:sub>
                                            <m:sSub>
                                              <m:sSubPr>
                                                <m:ctrlPr>
                                                  <a:rPr lang="it-IT" i="0" dirty="0" err="1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it-IT" i="0" dirty="0" err="1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𝒮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it-IT" i="1" dirty="0" err="1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𝑘</m:t>
                                                </m:r>
                                              </m:sub>
                                            </m:sSub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it-IT" i="1" dirty="0" err="1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sSub>
                                          <m:sSubPr>
                                            <m:ctrlPr>
                                              <a:rPr lang="it-IT" i="1" dirty="0" err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it-IT" i="1" dirty="0" err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it-IT" i="1" dirty="0" err="1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  <m:r>
                                      <a:rPr lang="it-IT" i="0" dirty="0" err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&gt;</m:t>
                                    </m:r>
                                    <m:r>
                                      <a:rPr lang="it-IT" i="1" dirty="0" err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𝜈</m:t>
                                    </m:r>
                                  </m:e>
                                </m:d>
                              </m:e>
                            </m:mr>
                            <m:mr>
                              <m:e>
                                <m:r>
                                  <a:rPr lang="it-IT" i="0" dirty="0" err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it-IT" i="0" dirty="0" err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 altrimenti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it-IT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CasellaDiTesto 5">
                <a:extLst>
                  <a:ext uri="{FF2B5EF4-FFF2-40B4-BE49-F238E27FC236}">
                    <a16:creationId xmlns:a16="http://schemas.microsoft.com/office/drawing/2014/main" id="{06D6F314-4F76-9A92-B9B6-8A9399025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03" y="4863708"/>
                <a:ext cx="5262146" cy="168533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2885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sellaDiTesto 5">
            <a:extLst>
              <a:ext uri="{FF2B5EF4-FFF2-40B4-BE49-F238E27FC236}">
                <a16:creationId xmlns:a16="http://schemas.microsoft.com/office/drawing/2014/main" id="{3BC4F768-7E3E-CB1A-B8CA-B30545ED25A5}"/>
              </a:ext>
            </a:extLst>
          </p:cNvPr>
          <p:cNvSpPr txBox="1"/>
          <p:nvPr/>
        </p:nvSpPr>
        <p:spPr>
          <a:xfrm>
            <a:off x="457200" y="182880"/>
            <a:ext cx="11277600" cy="750000"/>
          </a:xfrm>
        </p:spPr>
        <p:txBody>
          <a:bodyPr anchor="t">
            <a:normAutofit/>
          </a:bodyPr>
          <a:lstStyle/>
          <a:p>
            <a:pPr algn="l"/>
            <a:r>
              <a:rPr lang="it-IT" sz="3200" b="1" dirty="0">
                <a:solidFill>
                  <a:srgbClr val="1E3A5F"/>
                </a:solidFill>
                <a:latin typeface="Cambria" panose="02020202020202020204" charset="0"/>
              </a:rPr>
              <a:t>Newton-CG L1: Schema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B8D1764C-DE62-9A24-40D9-5A02FA3D5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81601"/>
            <a:ext cx="6442636" cy="167640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3C469C17-C2D1-A63F-0D23-B01B19C99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429" y="1"/>
            <a:ext cx="57795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920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FD686D-19D8-999A-2B06-6F8E973DE3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82880"/>
            <a:ext cx="11277600" cy="750000"/>
          </a:xfrm>
        </p:spPr>
        <p:txBody>
          <a:bodyPr anchor="t">
            <a:normAutofit/>
          </a:bodyPr>
          <a:lstStyle/>
          <a:p>
            <a:pPr algn="l"/>
            <a:r>
              <a:rPr lang="it-IT" sz="3200" b="1" dirty="0">
                <a:solidFill>
                  <a:srgbClr val="1E3A5F"/>
                </a:solidFill>
                <a:latin typeface="Cambria" panose="02020202020202020204" charset="0"/>
              </a:rPr>
              <a:t>Barzilai-Borwein CCV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25C75CD-DE03-C757-E11E-6D3182DE66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5430" y="1048929"/>
            <a:ext cx="11628420" cy="1072678"/>
          </a:xfrm>
        </p:spPr>
        <p:txBody>
          <a:bodyPr>
            <a:noAutofit/>
          </a:bodyPr>
          <a:lstStyle/>
          <a:p>
            <a:pPr algn="l"/>
            <a:r>
              <a:rPr lang="it-IT" sz="2000" dirty="0">
                <a:solidFill>
                  <a:schemeClr val="bg1"/>
                </a:solidFill>
                <a:latin typeface="Calibri" panose="02020502050305020303" pitchFamily="18" charset="0"/>
              </a:rPr>
              <a:t>BB-CCV sostituisce il passo fisso del Dynamic GD con un passo adattivo che stima la curvatura di 𝐽 lungo la direzione percorsa usando solo gradienti già calcolati: nessuna Hessiana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48EA255E-0459-8312-AE69-8C6A1704718E}"/>
                  </a:ext>
                </a:extLst>
              </p:cNvPr>
              <p:cNvSpPr txBox="1"/>
              <p:nvPr/>
            </p:nvSpPr>
            <p:spPr>
              <a:xfrm>
                <a:off x="76200" y="2152385"/>
                <a:ext cx="181876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pl-PL" sz="16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16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l-PL" sz="16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l-PL" sz="1600" i="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pl-PL" sz="1600" i="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l-PL" sz="16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16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l-PL" sz="16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pl-PL" sz="1600" i="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pl-PL" sz="1600" i="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pl-PL" sz="16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sz="16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pl-PL" sz="16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it-IT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48EA255E-0459-8312-AE69-8C6A170471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2152385"/>
                <a:ext cx="1818768" cy="33855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05BCC847-C565-C315-ADB1-96B31EB6004B}"/>
                  </a:ext>
                </a:extLst>
              </p:cNvPr>
              <p:cNvSpPr txBox="1"/>
              <p:nvPr/>
            </p:nvSpPr>
            <p:spPr>
              <a:xfrm>
                <a:off x="1894968" y="2112877"/>
                <a:ext cx="104279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Tra due iterate consecutive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it-IT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it-IT" i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it-IT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 e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t-IT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it-IT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it-IT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, lo sviluppo al primo ordine del gradiente </a:t>
                </a:r>
                <a14:m>
                  <m:oMath xmlns:m="http://schemas.openxmlformats.org/officeDocument/2006/math">
                    <m:r>
                      <a:rPr lang="it-IT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it-IT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𝛻</m:t>
                    </m:r>
                    <m:r>
                      <a:rPr lang="it-IT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it-IT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 attorno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dirty="0" err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 dirty="0" err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it-IT" i="1" dirty="0" err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it-IT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 è</a:t>
                </a:r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05BCC847-C565-C315-ADB1-96B31EB600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4968" y="2112877"/>
                <a:ext cx="10427912" cy="369332"/>
              </a:xfrm>
              <a:prstGeom prst="rect">
                <a:avLst/>
              </a:prstGeom>
              <a:blipFill>
                <a:blip r:embed="rId3"/>
                <a:stretch>
                  <a:fillRect l="-526" t="-10000" b="-26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C02AEC13-3432-8BE4-CF3D-950EE60FDA54}"/>
                  </a:ext>
                </a:extLst>
              </p:cNvPr>
              <p:cNvSpPr txBox="1"/>
              <p:nvPr/>
            </p:nvSpPr>
            <p:spPr>
              <a:xfrm>
                <a:off x="0" y="2485119"/>
                <a:ext cx="1249519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Posto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6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it-IT" sz="16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it-IT" sz="160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:=</m:t>
                    </m:r>
                    <m:sSub>
                      <m:sSubPr>
                        <m:ctrlPr>
                          <a:rPr lang="it-IT" sz="16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it-IT" sz="16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it-IT" sz="1600" i="0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it-IT" sz="160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it-IT" sz="16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it-IT" sz="16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it-IT" sz="16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it-IT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(spostamento)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6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it-IT" sz="16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it-IT" sz="160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:=</m:t>
                    </m:r>
                    <m:r>
                      <a:rPr lang="it-IT" sz="16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it-IT" sz="16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sz="16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6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it-IT" sz="16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it-IT" sz="1600" i="0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it-IT" sz="160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it-IT" sz="16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it-IT" sz="16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sz="16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6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it-IT" sz="160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it-IT" sz="16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 </a:t>
                </a:r>
                <a:r>
                  <a:rPr lang="it-IT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(variazione del gradiente), si ha la relazione secante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l-PL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pl-PL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pl-PL" sz="1600" i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pl-PL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l-PL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𝛻</m:t>
                        </m:r>
                      </m:e>
                      <m:sup>
                        <m:r>
                          <a:rPr lang="pl-PL" sz="1600" i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l-PL" sz="16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pl-PL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l-PL" sz="16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sz="16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l-PL" sz="16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pl-PL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pl-PL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it-IT" sz="1600" dirty="0">
                  <a:solidFill>
                    <a:schemeClr val="bg1"/>
                  </a:solidFill>
                  <a:latin typeface="Calibri" panose="02020502050305020303" pitchFamily="18" charset="0"/>
                </a:endParaRPr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C02AEC13-3432-8BE4-CF3D-950EE60FDA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485119"/>
                <a:ext cx="12495194" cy="369332"/>
              </a:xfrm>
              <a:prstGeom prst="rect">
                <a:avLst/>
              </a:prstGeom>
              <a:blipFill>
                <a:blip r:embed="rId4"/>
                <a:stretch>
                  <a:fillRect l="-390" t="-10000" b="-26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C73DACAD-8A56-883D-2AD1-7960B0DC0757}"/>
                  </a:ext>
                </a:extLst>
              </p:cNvPr>
              <p:cNvSpPr txBox="1"/>
              <p:nvPr/>
            </p:nvSpPr>
            <p:spPr>
              <a:xfrm>
                <a:off x="76200" y="2860271"/>
                <a:ext cx="88438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I metodi quasi-Newton approssimano l'Hessiana con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it-IT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it-IT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it-IT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  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it-IT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it-IT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sSub>
                      <m:sSubPr>
                        <m:ctrlPr>
                          <a:rPr lang="it-IT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it-IT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it-IT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t-IT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it-IT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it-IT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): noi poniamo</a:t>
                </a:r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C73DACAD-8A56-883D-2AD1-7960B0DC07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2860271"/>
                <a:ext cx="8843865" cy="369332"/>
              </a:xfrm>
              <a:prstGeom prst="rect">
                <a:avLst/>
              </a:prstGeom>
              <a:blipFill>
                <a:blip r:embed="rId5"/>
                <a:stretch>
                  <a:fillRect l="-621" t="-8197" b="-2459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31C59541-601F-54E8-DB93-A74804F46BDD}"/>
                  </a:ext>
                </a:extLst>
              </p:cNvPr>
              <p:cNvSpPr txBox="1"/>
              <p:nvPr/>
            </p:nvSpPr>
            <p:spPr>
              <a:xfrm>
                <a:off x="8313898" y="2843440"/>
                <a:ext cx="1595821" cy="3797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it-IT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it-IT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it-IT" i="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it-IT" i="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it-IT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it-IT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it-IT" i="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  <m:sup>
                          <m:r>
                            <a:rPr lang="it-IT" i="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it-IT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it-IT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31C59541-601F-54E8-DB93-A74804F46B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3898" y="2843440"/>
                <a:ext cx="1595821" cy="379719"/>
              </a:xfrm>
              <a:prstGeom prst="rect">
                <a:avLst/>
              </a:prstGeom>
              <a:blipFill>
                <a:blip r:embed="rId6"/>
                <a:stretch>
                  <a:fillRect b="-158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65CE4201-40EA-B546-AA06-D8124842BCB5}"/>
                  </a:ext>
                </a:extLst>
              </p:cNvPr>
              <p:cNvSpPr txBox="1"/>
              <p:nvPr/>
            </p:nvSpPr>
            <p:spPr>
              <a:xfrm>
                <a:off x="76201" y="3429000"/>
                <a:ext cx="11919642" cy="1928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Il sistema </a:t>
                </a:r>
                <a14:m>
                  <m:oMath xmlns:m="http://schemas.openxmlformats.org/officeDocument/2006/math">
                    <m:r>
                      <a:rPr lang="it-IT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it-IT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it-IT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it-IT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 è sovradeterminato perché abbiamo m </a:t>
                </a:r>
                <a:r>
                  <a:rPr lang="it-IT" dirty="0" err="1">
                    <a:solidFill>
                      <a:schemeClr val="bg1"/>
                    </a:solidFill>
                    <a:latin typeface="Calibri" panose="02020502050305020303" pitchFamily="18" charset="0"/>
                  </a:rPr>
                  <a:t>equaz</a:t>
                </a:r>
                <a:r>
                  <a:rPr lang="it-IT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ioni (una per componente di s e y) e un’incognita, lo scalare </a:t>
                </a:r>
                <a14:m>
                  <m:oMath xmlns:m="http://schemas.openxmlformats.org/officeDocument/2006/math">
                    <m:r>
                      <a:rPr lang="it-IT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it-IT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it-IT" b="0" dirty="0">
                  <a:solidFill>
                    <a:schemeClr val="bg1"/>
                  </a:solidFill>
                  <a:latin typeface="Calibri" panose="02020502050305020303" pitchFamily="18" charset="0"/>
                </a:endParaRPr>
              </a:p>
              <a:p>
                <a:r>
                  <a:rPr lang="it-IT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Lo risolviamo ai minimi quadrati: possiamo trovare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it-IT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it-IT" i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it-IT" i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it-IT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lim>
                        </m:limLow>
                      </m:fName>
                      <m:e>
                        <m:sSubSup>
                          <m:sSubSupPr>
                            <m:ctrlPr>
                              <a:rPr lang="it-IT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it-IT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sSub>
                                  <m:sSubPr>
                                    <m:ctrlPr>
                                      <a:rPr lang="it-IT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it-IT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it-IT" i="0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it-IT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it-IT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it-IT" i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it-IT" i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func>
                  </m:oMath>
                </a14:m>
                <a:r>
                  <a:rPr lang="it-IT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 oppure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it-IT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it-IT" i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it-IT" i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it-IT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lim>
                        </m:limLow>
                      </m:fName>
                      <m:e>
                        <m:sSubSup>
                          <m:sSubSupPr>
                            <m:ctrlPr>
                              <a:rPr lang="it-IT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it-IT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it-IT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it-IT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p>
                                    <m:r>
                                      <a:rPr lang="it-IT" i="0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it-IT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it-IT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it-IT" i="0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it-IT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it-IT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it-IT" i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it-IT" i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it-IT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func>
                  </m:oMath>
                </a14:m>
                <a:r>
                  <a:rPr lang="it-IT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 ottenendo due formule</a:t>
                </a:r>
              </a:p>
              <a:p>
                <a:r>
                  <a:rPr lang="it-IT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diverse: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it-IT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it-IT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d>
                            <m:dPr>
                              <m:ctrlPr>
                                <a:rPr lang="it-IT" i="0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0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it-IT" i="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it-IT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it-IT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it-IT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it-IT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it-IT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it-IT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it-IT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it-IT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it-IT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it-IT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it-IT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it-IT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it-IT" i="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,  </m:t>
                      </m:r>
                      <m:sSubSup>
                        <m:sSubSupPr>
                          <m:ctrlPr>
                            <a:rPr lang="it-IT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it-IT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it-IT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d>
                            <m:dPr>
                              <m:ctrlPr>
                                <a:rPr lang="it-IT" i="0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0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it-IT" i="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it-IT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it-IT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it-IT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it-IT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it-IT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it-IT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sSubSup>
                            <m:sSubSupPr>
                              <m:ctrlPr>
                                <a:rPr lang="it-IT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it-IT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it-IT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it-IT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it-IT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it-IT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r>
                        <a:rPr lang="it-IT" i="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it-IT" dirty="0">
                  <a:solidFill>
                    <a:schemeClr val="bg1"/>
                  </a:solidFill>
                  <a:latin typeface="Calibri" panose="02020502050305020303" pitchFamily="18" charset="0"/>
                </a:endParaRPr>
              </a:p>
              <a:p>
                <a:endParaRPr lang="it-IT" dirty="0">
                  <a:solidFill>
                    <a:schemeClr val="bg1"/>
                  </a:solidFill>
                  <a:latin typeface="Calibri" panose="02020502050305020303" pitchFamily="18" charset="0"/>
                </a:endParaRPr>
              </a:p>
            </p:txBody>
          </p:sp>
        </mc:Choice>
        <mc:Fallback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65CE4201-40EA-B546-AA06-D8124842BC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1" y="3429000"/>
                <a:ext cx="11919642" cy="1928092"/>
              </a:xfrm>
              <a:prstGeom prst="rect">
                <a:avLst/>
              </a:prstGeom>
              <a:blipFill>
                <a:blip r:embed="rId7"/>
                <a:stretch>
                  <a:fillRect l="-460" t="-189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76736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96789C-4F94-DC16-61B7-FA0EE83156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82880"/>
            <a:ext cx="11277600" cy="750000"/>
          </a:xfrm>
        </p:spPr>
        <p:txBody>
          <a:bodyPr anchor="t">
            <a:normAutofit/>
          </a:bodyPr>
          <a:lstStyle/>
          <a:p>
            <a:pPr algn="l"/>
            <a:r>
              <a:rPr lang="it-IT" sz="3200" b="1" dirty="0">
                <a:solidFill>
                  <a:srgbClr val="1E3A5F"/>
                </a:solidFill>
                <a:latin typeface="Cambria" panose="02020202020202020204" charset="0"/>
              </a:rPr>
              <a:t>Schema BB-CCV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C88399C7-26A2-EFDF-C23B-895558BF5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0"/>
            <a:ext cx="61095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3555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>
            <a:extLst>
              <a:ext uri="{FF2B5EF4-FFF2-40B4-BE49-F238E27FC236}">
                <a16:creationId xmlns:a16="http://schemas.microsoft.com/office/drawing/2014/main" id="{092098E3-8739-F274-4C83-A0B75A7D0782}"/>
              </a:ext>
            </a:extLst>
          </p:cNvPr>
          <p:cNvSpPr txBox="1"/>
          <p:nvPr/>
        </p:nvSpPr>
        <p:spPr>
          <a:xfrm>
            <a:off x="457200" y="182880"/>
            <a:ext cx="11277600" cy="950000"/>
          </a:xfrm>
        </p:spPr>
        <p:txBody>
          <a:bodyPr anchor="t">
            <a:normAutofit/>
          </a:bodyPr>
          <a:lstStyle/>
          <a:p>
            <a:pPr algn="l"/>
            <a:r>
              <a:rPr lang="it-IT" sz="3200" b="1" dirty="0">
                <a:solidFill>
                  <a:srgbClr val="1E3A5F"/>
                </a:solidFill>
                <a:latin typeface="Cambria" panose="02020202020202020204" charset="0"/>
              </a:rPr>
              <a:t>Esperimenti e visualizzazione interattiva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A98F68B7-E75A-A813-5F4A-F348868B35FD}"/>
                  </a:ext>
                </a:extLst>
              </p:cNvPr>
              <p:cNvSpPr txBox="1"/>
              <p:nvPr/>
            </p:nvSpPr>
            <p:spPr>
              <a:xfrm>
                <a:off x="9796024" y="4198620"/>
                <a:ext cx="2416046" cy="25915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 algn="r"/>
                <a:r>
                  <a:rPr lang="en-US" dirty="0">
                    <a:solidFill>
                      <a:schemeClr val="bg1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=200</m:t>
                    </m:r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pPr lvl="0" algn="r"/>
                <a:r>
                  <a:rPr lang="en-US" dirty="0">
                    <a:solidFill>
                      <a:schemeClr val="bg1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sepChr m:val=","/>
                        <m:ctrlPr>
                          <a:rPr lang="en-US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e>
                        <m:r>
                          <a:rPr lang="en-US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−3</m:t>
                        </m:r>
                      </m:e>
                    </m:d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pPr lvl="0" algn="r"/>
                <a:r>
                  <a:rPr lang="en-US" dirty="0">
                    <a:solidFill>
                      <a:schemeClr val="bg1"/>
                    </a:solidFill>
                  </a:rPr>
                  <a:t>seed = 42</a:t>
                </a:r>
              </a:p>
              <a:p>
                <a:pPr lvl="0" algn="r"/>
                <a:r>
                  <a:rPr lang="en-US" dirty="0">
                    <a:solidFill>
                      <a:schemeClr val="bg1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=0.1</m:t>
                    </m:r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pPr lvl="0" algn="r"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r>
                        <a:rPr lang="en-US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pPr lvl="0" algn="r"/>
                <a:r>
                  <a:rPr lang="en-US" dirty="0">
                    <a:solidFill>
                      <a:schemeClr val="bg1"/>
                    </a:solidFill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pPr lvl="0" algn="r"/>
                <a:r>
                  <a:rPr lang="en-US" dirty="0">
                    <a:solidFill>
                      <a:schemeClr val="bg1"/>
                    </a:solidFill>
                  </a:rPr>
                  <a:t>max iter = 30</a:t>
                </a:r>
              </a:p>
              <a:p>
                <a:pPr lvl="0" algn="r"/>
                <a:r>
                  <a:rPr lang="en-US" dirty="0" err="1">
                    <a:solidFill>
                      <a:schemeClr val="bg1"/>
                    </a:solidFill>
                  </a:rPr>
                  <a:t>tolleranza</a:t>
                </a:r>
                <a:r>
                  <a:rPr lang="en-US" dirty="0">
                    <a:solidFill>
                      <a:schemeClr val="bg1"/>
                    </a:solidFill>
                  </a:rPr>
                  <a:t> =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−6</m:t>
                        </m:r>
                      </m:sup>
                    </m:sSup>
                  </m:oMath>
                </a14:m>
                <a:endParaRPr lang="en-US" dirty="0">
                  <a:solidFill>
                    <a:schemeClr val="bg1"/>
                  </a:solidFill>
                </a:endParaRPr>
              </a:p>
              <a:p>
                <a:pPr algn="r"/>
                <a:endParaRPr lang="it-IT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A98F68B7-E75A-A813-5F4A-F348868B35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6024" y="4198620"/>
                <a:ext cx="2416046" cy="2591543"/>
              </a:xfrm>
              <a:prstGeom prst="rect">
                <a:avLst/>
              </a:prstGeom>
              <a:blipFill>
                <a:blip r:embed="rId2"/>
                <a:stretch>
                  <a:fillRect r="-202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AEC24F17-512B-571B-92A2-B79334E1484C}"/>
                  </a:ext>
                </a:extLst>
              </p:cNvPr>
              <p:cNvSpPr txBox="1"/>
              <p:nvPr/>
            </p:nvSpPr>
            <p:spPr>
              <a:xfrm>
                <a:off x="200025" y="2208741"/>
                <a:ext cx="10802253" cy="18945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it-IT" dirty="0">
                    <a:solidFill>
                      <a:schemeClr val="bg1"/>
                    </a:solidFill>
                  </a:rPr>
                  <a:t>Funzioni di </a:t>
                </a:r>
                <a:r>
                  <a:rPr lang="it-IT" dirty="0" err="1">
                    <a:solidFill>
                      <a:schemeClr val="bg1"/>
                    </a:solidFill>
                  </a:rPr>
                  <a:t>loss</a:t>
                </a:r>
                <a:r>
                  <a:rPr lang="it-IT" dirty="0">
                    <a:solidFill>
                      <a:schemeClr val="bg1"/>
                    </a:solidFill>
                  </a:rPr>
                  <a:t> testate: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it-IT" dirty="0">
                    <a:solidFill>
                      <a:schemeClr val="bg1"/>
                    </a:solidFill>
                  </a:rPr>
                  <a:t>Quadratica ben condizionata (</a:t>
                </a:r>
                <a14:m>
                  <m:oMath xmlns:m="http://schemas.openxmlformats.org/officeDocument/2006/math">
                    <m:r>
                      <a:rPr lang="it-IT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𝜅</m:t>
                    </m:r>
                    <m:r>
                      <a:rPr lang="it-IT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≈1.1</m:t>
                    </m:r>
                  </m:oMath>
                </a14:m>
                <a:r>
                  <a:rPr lang="it-IT" dirty="0">
                    <a:solidFill>
                      <a:schemeClr val="bg1"/>
                    </a:solidFill>
                  </a:rPr>
                  <a:t>)  </a:t>
                </a:r>
                <a14:m>
                  <m:oMath xmlns:m="http://schemas.openxmlformats.org/officeDocument/2006/math">
                    <m:r>
                      <a:rPr lang="pl-PL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pl-PL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pl-PL" i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l-PL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l-PL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l-PL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pl-PL" i="0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pl-PL" i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pl-PL" i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l-PL" i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pl-PL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l-PL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l-PL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pl-PL" i="0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pl-PL" i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+2</m:t>
                            </m:r>
                          </m:e>
                        </m:d>
                      </m:e>
                      <m:sup>
                        <m:r>
                          <a:rPr lang="pl-PL" i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l-PL" i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+0.1</m:t>
                    </m:r>
                    <m:sSub>
                      <m:sSubPr>
                        <m:ctrlPr>
                          <a:rPr lang="pl-PL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l-PL" i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pl-PL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l-PL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l-PL" i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it-IT" dirty="0">
                  <a:solidFill>
                    <a:schemeClr val="bg1"/>
                  </a:solidFill>
                </a:endParaRP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it-IT" dirty="0">
                    <a:solidFill>
                      <a:schemeClr val="bg1"/>
                    </a:solidFill>
                  </a:rPr>
                  <a:t>Quadratica mal condizionata (</a:t>
                </a:r>
                <a14:m>
                  <m:oMath xmlns:m="http://schemas.openxmlformats.org/officeDocument/2006/math">
                    <m:r>
                      <a:rPr lang="it-IT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𝜅</m:t>
                    </m:r>
                    <m:r>
                      <a:rPr lang="it-IT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≈20</m:t>
                    </m:r>
                  </m:oMath>
                </a14:m>
                <a:r>
                  <a:rPr lang="it-IT" dirty="0">
                    <a:solidFill>
                      <a:schemeClr val="bg1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it-IT" b="0" i="0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pl-PL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pl-PL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pl-PL" i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=20</m:t>
                    </m:r>
                    <m:sSup>
                      <m:sSupPr>
                        <m:ctrlPr>
                          <a:rPr lang="pl-PL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l-PL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l-PL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pl-PL" i="0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pl-PL" i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pl-PL" i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l-PL" i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pl-PL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l-PL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l-PL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pl-PL" i="0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pl-PL" i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+2</m:t>
                            </m:r>
                          </m:e>
                        </m:d>
                      </m:e>
                      <m:sup>
                        <m:r>
                          <a:rPr lang="pl-PL" i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it-IT" dirty="0">
                  <a:solidFill>
                    <a:schemeClr val="bg1"/>
                  </a:solidFill>
                </a:endParaRP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it-IT" dirty="0">
                    <a:solidFill>
                      <a:schemeClr val="bg1"/>
                    </a:solidFill>
                  </a:rPr>
                  <a:t>Quadratica molto mal condizionata (</a:t>
                </a:r>
                <a14:m>
                  <m:oMath xmlns:m="http://schemas.openxmlformats.org/officeDocument/2006/math">
                    <m:r>
                      <a:rPr lang="it-IT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𝜅</m:t>
                    </m:r>
                    <m:r>
                      <a:rPr lang="it-IT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≈100</m:t>
                    </m:r>
                  </m:oMath>
                </a14:m>
                <a:r>
                  <a:rPr lang="it-IT" dirty="0">
                    <a:solidFill>
                      <a:schemeClr val="bg1"/>
                    </a:solidFill>
                  </a:rPr>
                  <a:t>)  </a:t>
                </a:r>
                <a14:m>
                  <m:oMath xmlns:m="http://schemas.openxmlformats.org/officeDocument/2006/math">
                    <m:r>
                      <a:rPr lang="pl-PL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pl-PL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pl-PL" i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=100</m:t>
                    </m:r>
                    <m:sSup>
                      <m:sSupPr>
                        <m:ctrlPr>
                          <a:rPr lang="pl-PL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l-PL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l-PL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pl-PL" i="0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pl-PL" i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pl-PL" i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l-PL" i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pl-PL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l-PL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l-PL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pl-PL" i="0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pl-PL" i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+2</m:t>
                            </m:r>
                          </m:e>
                        </m:d>
                      </m:e>
                      <m:sup>
                        <m:r>
                          <a:rPr lang="pl-PL" i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it-IT" dirty="0">
                  <a:solidFill>
                    <a:schemeClr val="bg1"/>
                  </a:solidFill>
                </a:endParaRP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it-IT" dirty="0">
                    <a:solidFill>
                      <a:schemeClr val="bg1"/>
                    </a:solidFill>
                  </a:rPr>
                  <a:t>Quadratica con termine incrociato (</a:t>
                </a:r>
                <a14:m>
                  <m:oMath xmlns:m="http://schemas.openxmlformats.org/officeDocument/2006/math">
                    <m:r>
                      <a:rPr lang="it-IT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𝜅</m:t>
                    </m:r>
                    <m:r>
                      <a:rPr lang="it-IT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≈1.67</m:t>
                    </m:r>
                  </m:oMath>
                </a14:m>
                <a:r>
                  <a:rPr lang="it-IT" dirty="0">
                    <a:solidFill>
                      <a:schemeClr val="bg1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pl-PL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pl-PL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l-PL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pl-PL" i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l-PL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l-PL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l-PL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pl-PL" i="0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pl-PL" i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pl-PL" i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l-PL" i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pl-PL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pl-PL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l-PL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l-PL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pl-PL" i="0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pl-PL" i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+2</m:t>
                            </m:r>
                          </m:e>
                        </m:d>
                      </m:e>
                      <m:sup>
                        <m:r>
                          <a:rPr lang="pl-PL" i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l-PL" i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+0.5</m:t>
                    </m:r>
                    <m:d>
                      <m:dPr>
                        <m:ctrlPr>
                          <a:rPr lang="pl-PL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l-PL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l-PL" i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l-PL" i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d>
                      <m:dPr>
                        <m:ctrlPr>
                          <a:rPr lang="pl-PL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l-PL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l-PL" i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l-PL" i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d>
                  </m:oMath>
                </a14:m>
                <a:endParaRPr lang="it-IT" dirty="0">
                  <a:solidFill>
                    <a:schemeClr val="bg1"/>
                  </a:solidFill>
                </a:endParaRP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it-IT" dirty="0">
                    <a:solidFill>
                      <a:schemeClr val="bg1"/>
                    </a:solidFill>
                  </a:rPr>
                  <a:t>Funzione di Rosenbrock (non quadratica) </a:t>
                </a:r>
                <a14:m>
                  <m:oMath xmlns:m="http://schemas.openxmlformats.org/officeDocument/2006/math">
                    <m:r>
                      <a:rPr lang="it-IT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it-IT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it-IT" i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IT" i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i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t-IT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it-IT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it-IT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it-IT" i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it-IT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it-IT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it-IT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it-IT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it-IT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lang="it-IT" i="0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it-IT" i="0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it-IT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it-IT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it-IT" i="0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it-IT" i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+100</m:t>
                            </m:r>
                            <m:sSup>
                              <m:sSupPr>
                                <m:ctrlPr>
                                  <a:rPr lang="it-IT" i="1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it-IT" i="1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it-IT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it-IT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it-IT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𝑤</m:t>
                                            </m:r>
                                          </m:e>
                                          <m:sub>
                                            <m:r>
                                              <a:rPr lang="it-IT" i="0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it-IT" i="0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it-IT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it-IT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  <m:sub>
                                            <m:r>
                                              <a:rPr lang="it-IT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it-IT" i="0" dirty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sSupPr>
                                        <m:ctrlPr>
                                          <a:rPr lang="it-IT" i="1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it-IT" i="1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it-IT" i="1" dirty="0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it-IT" i="1" dirty="0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𝑤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it-IT" i="0" dirty="0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it-IT" i="0" dirty="0">
                                                <a:solidFill>
                                                  <a:schemeClr val="bg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it-IT" i="1" dirty="0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it-IT" i="1" dirty="0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it-IT" i="1" dirty="0">
                                                    <a:solidFill>
                                                      <a:schemeClr val="bg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it-IT" i="0" dirty="0">
                                            <a:solidFill>
                                              <a:schemeClr val="bg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lang="it-IT" i="0" dirty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endParaRPr lang="it-IT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AEC24F17-512B-571B-92A2-B79334E148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025" y="2208741"/>
                <a:ext cx="10802253" cy="1894558"/>
              </a:xfrm>
              <a:prstGeom prst="rect">
                <a:avLst/>
              </a:prstGeom>
              <a:blipFill>
                <a:blip r:embed="rId3"/>
                <a:stretch>
                  <a:fillRect l="-508" t="-1929" b="-3215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6AD17DE-EF1D-B5D8-D2C5-9DEAFC9B930D}"/>
              </a:ext>
            </a:extLst>
          </p:cNvPr>
          <p:cNvSpPr txBox="1"/>
          <p:nvPr/>
        </p:nvSpPr>
        <p:spPr>
          <a:xfrm>
            <a:off x="95250" y="4474196"/>
            <a:ext cx="43053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it-IT" dirty="0">
                <a:solidFill>
                  <a:schemeClr val="bg1"/>
                </a:solidFill>
              </a:rPr>
              <a:t>Applicazione Web: visualizzazione.html</a:t>
            </a:r>
          </a:p>
          <a:p>
            <a:pPr lvl="0"/>
            <a:r>
              <a:rPr lang="it-IT" dirty="0" err="1">
                <a:solidFill>
                  <a:schemeClr val="bg1"/>
                </a:solidFill>
              </a:rPr>
              <a:t>Pyodide</a:t>
            </a:r>
            <a:r>
              <a:rPr lang="it-IT" dirty="0">
                <a:solidFill>
                  <a:schemeClr val="bg1"/>
                </a:solidFill>
              </a:rPr>
              <a:t> (Python nel browser) + </a:t>
            </a:r>
            <a:r>
              <a:rPr lang="it-IT" dirty="0" err="1">
                <a:solidFill>
                  <a:schemeClr val="bg1"/>
                </a:solidFill>
              </a:rPr>
              <a:t>Plotly</a:t>
            </a:r>
            <a:endParaRPr lang="it-IT" dirty="0">
              <a:solidFill>
                <a:schemeClr val="bg1"/>
              </a:solidFill>
            </a:endParaRPr>
          </a:p>
          <a:p>
            <a:pPr lvl="0"/>
            <a:r>
              <a:rPr lang="it-IT" dirty="0">
                <a:solidFill>
                  <a:schemeClr val="bg1"/>
                </a:solidFill>
              </a:rPr>
              <a:t>Algoritmi e </a:t>
            </a:r>
            <a:r>
              <a:rPr lang="it-IT" dirty="0" err="1">
                <a:solidFill>
                  <a:schemeClr val="bg1"/>
                </a:solidFill>
              </a:rPr>
              <a:t>loss</a:t>
            </a:r>
            <a:r>
              <a:rPr lang="it-IT" dirty="0">
                <a:solidFill>
                  <a:schemeClr val="bg1"/>
                </a:solidFill>
              </a:rPr>
              <a:t> personalizzabili</a:t>
            </a:r>
          </a:p>
          <a:p>
            <a:pPr lvl="0"/>
            <a:r>
              <a:rPr lang="it-IT" dirty="0">
                <a:solidFill>
                  <a:schemeClr val="bg1"/>
                </a:solidFill>
              </a:rPr>
              <a:t>Traiettorie e metriche interattive</a:t>
            </a:r>
          </a:p>
          <a:p>
            <a:br>
              <a:rPr lang="it-IT" dirty="0">
                <a:solidFill>
                  <a:schemeClr val="bg1"/>
                </a:solidFill>
              </a:rPr>
            </a:br>
            <a:endParaRPr lang="it-IT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67590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93158225-DD27-4EA5-ED6C-725E80F5E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95033" cy="3871365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76C608C2-404D-FA7E-77CF-178B10B94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033" y="0"/>
            <a:ext cx="6296967" cy="6858000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29DBBBE6-CCE0-9B1E-4192-376840B722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3869354"/>
            <a:ext cx="4017818" cy="2988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1492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CF69E39-69BC-B248-1AA4-01C42EFF1B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82880"/>
            <a:ext cx="11277600" cy="850000"/>
          </a:xfrm>
        </p:spPr>
        <p:txBody>
          <a:bodyPr anchor="t">
            <a:normAutofit/>
          </a:bodyPr>
          <a:lstStyle/>
          <a:p>
            <a:pPr algn="l"/>
            <a:r>
              <a:rPr lang="it-IT" sz="2800" b="1" dirty="0">
                <a:solidFill>
                  <a:srgbClr val="1E3A5F"/>
                </a:solidFill>
                <a:latin typeface="Cambria" panose="02020202020202020204" charset="0"/>
              </a:rPr>
              <a:t>Riuso dello stesso minibatch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4B975A1-239A-CDCE-E92B-1073C16FE5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770" r="-342"/>
          <a:stretch>
            <a:fillRect/>
          </a:stretch>
        </p:blipFill>
        <p:spPr>
          <a:xfrm>
            <a:off x="9484832" y="4392791"/>
            <a:ext cx="2533714" cy="2317783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BEC674C0-FE3D-941B-2A92-5CF6BEC10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27582"/>
            <a:ext cx="9305925" cy="4930418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FE5F7702-C31D-F024-6168-2F0044CCD1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9428"/>
          <a:stretch>
            <a:fillRect/>
          </a:stretch>
        </p:blipFill>
        <p:spPr>
          <a:xfrm>
            <a:off x="9484832" y="2060932"/>
            <a:ext cx="2533714" cy="2166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9201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3D77E0A5-ADE4-9CAC-D880-9776B4F92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457496"/>
            <a:ext cx="6169891" cy="5400504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09E3528-4106-1808-0AE0-3A3D32553F9B}"/>
              </a:ext>
            </a:extLst>
          </p:cNvPr>
          <p:cNvSpPr txBox="1"/>
          <p:nvPr/>
        </p:nvSpPr>
        <p:spPr>
          <a:xfrm>
            <a:off x="457200" y="182880"/>
            <a:ext cx="11277600" cy="750000"/>
          </a:xfrm>
        </p:spPr>
        <p:txBody>
          <a:bodyPr anchor="t">
            <a:normAutofit/>
          </a:bodyPr>
          <a:lstStyle/>
          <a:p>
            <a:pPr algn="l"/>
            <a:r>
              <a:rPr lang="it-IT" sz="3200" b="1" dirty="0">
                <a:solidFill>
                  <a:srgbClr val="1E3A5F"/>
                </a:solidFill>
                <a:latin typeface="Cambria" panose="02020202020202020204" charset="0"/>
              </a:rPr>
              <a:t>Robustezza del riuso</a:t>
            </a:r>
          </a:p>
        </p:txBody>
      </p:sp>
    </p:spTree>
    <p:extLst>
      <p:ext uri="{BB962C8B-B14F-4D97-AF65-F5344CB8AC3E}">
        <p14:creationId xmlns:p14="http://schemas.microsoft.com/office/powerpoint/2010/main" val="12555552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F527F-4D07-D39C-0BF9-B0B518E12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0BD820A-10E4-E7A2-D204-9ECC2C80E1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82880"/>
            <a:ext cx="11277600" cy="850000"/>
          </a:xfrm>
        </p:spPr>
        <p:txBody>
          <a:bodyPr anchor="t">
            <a:normAutofit/>
          </a:bodyPr>
          <a:lstStyle/>
          <a:p>
            <a:pPr algn="l"/>
            <a:r>
              <a:rPr lang="it-IT" sz="2800" b="1" dirty="0">
                <a:solidFill>
                  <a:srgbClr val="1E3A5F"/>
                </a:solidFill>
                <a:latin typeface="Cambria" panose="02020202020202020204" charset="0"/>
              </a:rPr>
              <a:t>Stop adattivo con validation 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379B004A-D1DB-EABF-500E-3875BEF466EE}"/>
                  </a:ext>
                </a:extLst>
              </p:cNvPr>
              <p:cNvSpPr txBox="1"/>
              <p:nvPr/>
            </p:nvSpPr>
            <p:spPr>
              <a:xfrm>
                <a:off x="126421" y="1295400"/>
                <a:ext cx="9451687" cy="26851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it-IT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Il riuso illimitato (</a:t>
                </a:r>
                <a14:m>
                  <m:oMath xmlns:m="http://schemas.openxmlformats.org/officeDocument/2006/math">
                    <m:r>
                      <a:rPr lang="it-IT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it-IT" b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it-IT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) può far collassare i metodi di Newton: l'Hessiana "invecchia" e la direzione di Newton si allontana dalla discesa, fino a bloccarsi (errore </a:t>
                </a:r>
                <a14:m>
                  <m:oMath xmlns:m="http://schemas.openxmlformats.org/officeDocument/2006/math">
                    <m:r>
                      <a:rPr lang="it-IT" b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it-IT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it-IT" b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it-IT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lang="it-IT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 su </a:t>
                </a:r>
                <a14:m>
                  <m:oMath xmlns:m="http://schemas.openxmlformats.org/officeDocument/2006/math">
                    <m:r>
                      <a:rPr lang="it-IT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𝜅</m:t>
                    </m:r>
                    <m:r>
                      <a:rPr lang="it-IT" b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it-IT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it-IT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, Tabella 6.1).</a:t>
                </a:r>
              </a:p>
              <a:p>
                <a:pPr lvl="0"/>
                <a:r>
                  <a:rPr lang="it-IT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Non esiste un valore di </a:t>
                </a:r>
                <a14:m>
                  <m:oMath xmlns:m="http://schemas.openxmlformats.org/officeDocument/2006/math">
                    <m:r>
                      <a:rPr lang="it-IT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it-IT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 ottimale per tutti i problemi e algoritmi.</a:t>
                </a:r>
              </a:p>
              <a:p>
                <a:pPr lvl="0"/>
                <a:endParaRPr lang="it-IT" dirty="0">
                  <a:solidFill>
                    <a:schemeClr val="bg1"/>
                  </a:solidFill>
                  <a:latin typeface="Calibri" panose="02020502050305020303" pitchFamily="18" charset="0"/>
                </a:endParaRPr>
              </a:p>
              <a:p>
                <a:pPr lvl="0"/>
                <a:r>
                  <a:rPr lang="it-IT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Si riserva una frazione </a:t>
                </a:r>
                <a14:m>
                  <m:oMath xmlns:m="http://schemas.openxmlformats.org/officeDocument/2006/math">
                    <m:r>
                      <a:rPr lang="it-IT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it-IT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 del dataset come </a:t>
                </a:r>
                <a:r>
                  <a:rPr lang="it-IT" dirty="0" err="1">
                    <a:solidFill>
                      <a:schemeClr val="bg1"/>
                    </a:solidFill>
                    <a:latin typeface="Calibri" panose="02020502050305020303" pitchFamily="18" charset="0"/>
                  </a:rPr>
                  <a:t>validation</a:t>
                </a:r>
                <a:r>
                  <a:rPr lang="it-IT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 set.</a:t>
                </a:r>
              </a:p>
              <a:p>
                <a:pPr lvl="0"/>
                <a:r>
                  <a:rPr lang="it-IT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Il mini-batch è campionato solo dal training set.</a:t>
                </a:r>
              </a:p>
              <a:p>
                <a:pPr lvl="0"/>
                <a:r>
                  <a:rPr lang="it-IT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Ogni </a:t>
                </a:r>
                <a14:m>
                  <m:oMath xmlns:m="http://schemas.openxmlformats.org/officeDocument/2006/math">
                    <m:r>
                      <a:rPr lang="it-IT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it-IT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 iterazioni, si valuta la </a:t>
                </a:r>
                <a:r>
                  <a:rPr lang="it-IT" dirty="0" err="1">
                    <a:solidFill>
                      <a:schemeClr val="bg1"/>
                    </a:solidFill>
                    <a:latin typeface="Calibri" panose="02020502050305020303" pitchFamily="18" charset="0"/>
                  </a:rPr>
                  <a:t>loss</a:t>
                </a:r>
                <a:r>
                  <a:rPr lang="it-IT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 sul </a:t>
                </a:r>
                <a:r>
                  <a:rPr lang="it-IT" dirty="0" err="1">
                    <a:solidFill>
                      <a:schemeClr val="bg1"/>
                    </a:solidFill>
                    <a:latin typeface="Calibri" panose="02020502050305020303" pitchFamily="18" charset="0"/>
                  </a:rPr>
                  <a:t>validation</a:t>
                </a:r>
                <a:r>
                  <a:rPr lang="it-IT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 set: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m:rPr>
                            <m:nor/>
                          </m:rPr>
                          <a:rPr lang="it-IT" i="0">
                            <a:solidFill>
                              <a:schemeClr val="bg1"/>
                            </a:solidFill>
                            <a:latin typeface="Calibri" panose="02020502050305020303" pitchFamily="18" charset="0"/>
                          </a:rPr>
                          <m:t>val</m:t>
                        </m:r>
                      </m:sub>
                    </m:sSub>
                    <m:d>
                      <m:dPr>
                        <m:ctrlPr>
                          <a:rPr lang="it-IT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it-IT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it-IT" b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it-IT" b="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it-IT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.</a:t>
                </a:r>
              </a:p>
              <a:p>
                <a:pPr lvl="0"/>
                <a:r>
                  <a:rPr lang="it-IT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Se per </a:t>
                </a:r>
                <a14:m>
                  <m:oMath xmlns:m="http://schemas.openxmlformats.org/officeDocument/2006/math">
                    <m:r>
                      <a:rPr lang="it-IT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it-IT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 valutazioni consecutive non c'è miglioramento, il batch viene ricampionato.</a:t>
                </a:r>
              </a:p>
              <a:p>
                <a:pPr lvl="0"/>
                <a:r>
                  <a:rPr lang="it-IT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Criterio di miglioramento: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m:rPr>
                            <m:nor/>
                          </m:rPr>
                          <a:rPr lang="it-IT" sz="1600" i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val</m:t>
                        </m:r>
                      </m:sub>
                    </m:sSub>
                    <m:d>
                      <m:dPr>
                        <m:ctrlPr>
                          <a:rPr lang="it-IT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sz="16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6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it-IT" sz="16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it-IT" sz="1600" i="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it-IT" sz="1600" i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Sup>
                      <m:sSubSupPr>
                        <m:ctrlPr>
                          <a:rPr lang="it-IT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m:rPr>
                            <m:nor/>
                          </m:rPr>
                          <a:rPr lang="it-IT" sz="1600" i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val</m:t>
                        </m:r>
                      </m:sub>
                      <m:sup>
                        <m:r>
                          <m:rPr>
                            <m:nor/>
                          </m:rPr>
                          <a:rPr lang="it-IT" sz="1600" i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best</m:t>
                        </m:r>
                      </m:sup>
                    </m:sSubSup>
                    <m:d>
                      <m:dPr>
                        <m:ctrlPr>
                          <a:rPr lang="it-IT" sz="1600" i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600" i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it-IT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it-IT" sz="1600" i="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it-IT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6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m:rPr>
                            <m:nor/>
                          </m:rPr>
                          <a:rPr lang="it-IT" sz="1600" i="0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abs</m:t>
                        </m:r>
                      </m:sub>
                    </m:sSub>
                  </m:oMath>
                </a14:m>
                <a:endParaRPr lang="it-IT" dirty="0">
                  <a:solidFill>
                    <a:schemeClr val="bg1"/>
                  </a:solidFill>
                  <a:latin typeface="Calibri" panose="02020502050305020303" pitchFamily="18" charset="0"/>
                </a:endParaRPr>
              </a:p>
            </p:txBody>
          </p:sp>
        </mc:Choice>
        <mc:Fallback xmlns="">
          <p:sp>
            <p:nvSpPr>
              <p:cNvPr id="7" name="CasellaDiTesto 6">
                <a:extLst>
                  <a:ext uri="{FF2B5EF4-FFF2-40B4-BE49-F238E27FC236}">
                    <a16:creationId xmlns:a16="http://schemas.microsoft.com/office/drawing/2014/main" id="{379B004A-D1DB-EABF-500E-3875BEF466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421" y="1295400"/>
                <a:ext cx="9451687" cy="2685159"/>
              </a:xfrm>
              <a:prstGeom prst="rect">
                <a:avLst/>
              </a:prstGeom>
              <a:blipFill>
                <a:blip r:embed="rId2"/>
                <a:stretch>
                  <a:fillRect l="-581" t="-1364" b="-159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Immagine 15">
            <a:extLst>
              <a:ext uri="{FF2B5EF4-FFF2-40B4-BE49-F238E27FC236}">
                <a16:creationId xmlns:a16="http://schemas.microsoft.com/office/drawing/2014/main" id="{FBED047F-4E23-0222-9364-BB85F30FE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08891"/>
            <a:ext cx="8410575" cy="2507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2641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C1DC5AB-23B8-7EB9-608A-8D2BD07818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82880"/>
            <a:ext cx="11277600" cy="950000"/>
          </a:xfrm>
        </p:spPr>
        <p:txBody>
          <a:bodyPr anchor="t">
            <a:normAutofit/>
          </a:bodyPr>
          <a:lstStyle/>
          <a:p>
            <a:pPr algn="l"/>
            <a:r>
              <a:rPr lang="it-IT" sz="2600" b="1" dirty="0">
                <a:solidFill>
                  <a:srgbClr val="1E3A5F"/>
                </a:solidFill>
                <a:latin typeface="Cambria" panose="02020202020202020204" charset="0"/>
              </a:rPr>
              <a:t>Riuso per discesa della loss sul batch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ottotitolo 2">
                <a:extLst>
                  <a:ext uri="{FF2B5EF4-FFF2-40B4-BE49-F238E27FC236}">
                    <a16:creationId xmlns:a16="http://schemas.microsoft.com/office/drawing/2014/main" id="{F928961F-4F6D-8834-F803-84982843C1A6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52400" y="1024554"/>
                <a:ext cx="11715749" cy="1547196"/>
              </a:xfrm>
            </p:spPr>
            <p:txBody>
              <a:bodyPr>
                <a:noAutofit/>
              </a:bodyPr>
              <a:lstStyle/>
              <a:p>
                <a:pPr lvl="0"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Lo stop adattivo con </a:t>
                </a:r>
                <a:r>
                  <a:rPr lang="it-IT" sz="1800" dirty="0" err="1">
                    <a:solidFill>
                      <a:schemeClr val="bg1"/>
                    </a:solidFill>
                    <a:latin typeface="Calibri" panose="02020502050305020303" pitchFamily="18" charset="0"/>
                  </a:rPr>
                  <a:t>validation</a:t>
                </a:r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 set richiede un calcolo per ogni dato nell’insieme</a:t>
                </a:r>
              </a:p>
              <a:p>
                <a:pPr lvl="0"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Nessun dato riservato: il mini-batch è campionato dall'intero dataset.</a:t>
                </a:r>
              </a:p>
              <a:p>
                <a:pPr lvl="0"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La decisione di ricampionare si basa sulla </a:t>
                </a:r>
                <a:r>
                  <a:rPr lang="it-IT" sz="1800" dirty="0" err="1">
                    <a:solidFill>
                      <a:schemeClr val="bg1"/>
                    </a:solidFill>
                    <a:latin typeface="Calibri" panose="02020502050305020303" pitchFamily="18" charset="0"/>
                  </a:rPr>
                  <a:t>loss</a:t>
                </a:r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 sul batch corrente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b="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sz="1800" b="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J</m:t>
                        </m:r>
                      </m:e>
                      <m:sub>
                        <m:r>
                          <m:rPr>
                            <m:nor/>
                          </m:rPr>
                          <a:rPr lang="it-IT" sz="1800" i="0">
                            <a:solidFill>
                              <a:schemeClr val="bg1"/>
                            </a:solidFill>
                            <a:latin typeface="Calibri" panose="02020502050305020303" pitchFamily="18" charset="0"/>
                          </a:rPr>
                          <m:t>batch</m:t>
                        </m:r>
                      </m:sub>
                    </m:sSub>
                    <m:d>
                      <m:dPr>
                        <m:ctrlPr>
                          <a:rPr lang="it-IT" sz="1800" b="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sz="1800" b="0" i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it-IT" sz="1800" b="0" i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it-IT" sz="1800" b="0" i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</m:e>
                    </m:d>
                  </m:oMath>
                </a14:m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.</a:t>
                </a:r>
              </a:p>
              <a:p>
                <a:pPr lvl="0"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La line </a:t>
                </a:r>
                <a:r>
                  <a:rPr lang="it-IT" sz="1800" dirty="0" err="1">
                    <a:solidFill>
                      <a:schemeClr val="bg1"/>
                    </a:solidFill>
                    <a:latin typeface="Calibri" panose="02020502050305020303" pitchFamily="18" charset="0"/>
                  </a:rPr>
                  <a:t>search</a:t>
                </a:r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 garantisce che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b="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sz="1800" b="0" i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J</m:t>
                        </m:r>
                      </m:e>
                      <m:sub>
                        <m:r>
                          <m:rPr>
                            <m:nor/>
                          </m:rPr>
                          <a:rPr lang="it-IT" sz="1800" i="0">
                            <a:solidFill>
                              <a:schemeClr val="bg1"/>
                            </a:solidFill>
                            <a:latin typeface="Calibri" panose="02020502050305020303" pitchFamily="18" charset="0"/>
                          </a:rPr>
                          <m:t>batch</m:t>
                        </m:r>
                      </m:sub>
                    </m:sSub>
                  </m:oMath>
                </a14:m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 scenda sempre: il criterio scatta quando la riduzione è lenta (vicino al minimo campionario).</a:t>
                </a:r>
              </a:p>
              <a:p>
                <a:pPr lvl="0" algn="l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Ogni 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it-IT" sz="1800" b="0" i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f</m:t>
                    </m:r>
                  </m:oMath>
                </a14:m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 iterazioni, si confronta la </a:t>
                </a:r>
                <a:r>
                  <a:rPr lang="it-IT" sz="1800" dirty="0" err="1">
                    <a:solidFill>
                      <a:schemeClr val="bg1"/>
                    </a:solidFill>
                    <a:latin typeface="Calibri" panose="02020502050305020303" pitchFamily="18" charset="0"/>
                  </a:rPr>
                  <a:t>loss</a:t>
                </a:r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 corrente con quella dell'iterazione precedente sullo stesso batch.</a:t>
                </a:r>
              </a:p>
            </p:txBody>
          </p:sp>
        </mc:Choice>
        <mc:Fallback xmlns="">
          <p:sp>
            <p:nvSpPr>
              <p:cNvPr id="3" name="Sottotitolo 2">
                <a:extLst>
                  <a:ext uri="{FF2B5EF4-FFF2-40B4-BE49-F238E27FC236}">
                    <a16:creationId xmlns:a16="http://schemas.microsoft.com/office/drawing/2014/main" id="{F928961F-4F6D-8834-F803-84982843C1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52400" y="1024554"/>
                <a:ext cx="11715749" cy="1547196"/>
              </a:xfrm>
              <a:blipFill>
                <a:blip r:embed="rId2"/>
                <a:stretch>
                  <a:fillRect l="-416" t="-1969" r="-416" b="-433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030A5F02-A181-1B73-3E37-1E1192BCD8A6}"/>
                  </a:ext>
                </a:extLst>
              </p:cNvPr>
              <p:cNvSpPr txBox="1"/>
              <p:nvPr/>
            </p:nvSpPr>
            <p:spPr>
              <a:xfrm>
                <a:off x="103393" y="2988286"/>
                <a:ext cx="5019675" cy="3737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it-IT" sz="16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6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it-IT" sz="1600" i="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batch</m:t>
                          </m:r>
                        </m:sub>
                      </m:sSub>
                      <m:d>
                        <m:dPr>
                          <m:ctrlPr>
                            <a:rPr lang="it-IT" sz="16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16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6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it-IT" sz="16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it-IT" sz="1600" i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it-IT" sz="1600" i="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it-IT" sz="16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6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it-IT" sz="1600" i="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batch</m:t>
                          </m:r>
                        </m:sub>
                      </m:sSub>
                      <m:d>
                        <m:dPr>
                          <m:ctrlPr>
                            <a:rPr lang="it-IT" sz="16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16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6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it-IT" sz="16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it-IT" sz="1600" i="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it-IT" sz="1600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it-IT" sz="1600" i="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 </m:t>
                      </m:r>
                      <m:d>
                        <m:dPr>
                          <m:begChr m:val="|"/>
                          <m:endChr m:val="|"/>
                          <m:ctrlPr>
                            <a:rPr lang="it-IT" sz="16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16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16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it-IT" sz="1600" i="0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batch</m:t>
                              </m:r>
                            </m:sub>
                          </m:sSub>
                          <m:d>
                            <m:dPr>
                              <m:ctrlPr>
                                <a:rPr lang="it-IT" sz="160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sz="16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6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it-IT" sz="1600" i="1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it-IT" sz="1600" i="0" dirty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it-IT" sz="1600" i="0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it-IT" sz="16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6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it-IT" sz="1600" i="0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abs</m:t>
                          </m:r>
                        </m:sub>
                      </m:sSub>
                    </m:oMath>
                  </m:oMathPara>
                </a14:m>
                <a:endParaRPr lang="it-IT" sz="16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030A5F02-A181-1B73-3E37-1E1192BCD8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93" y="2988286"/>
                <a:ext cx="5019675" cy="373757"/>
              </a:xfrm>
              <a:prstGeom prst="rect">
                <a:avLst/>
              </a:prstGeom>
              <a:blipFill>
                <a:blip r:embed="rId3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A2D2E3A0-D7FC-6969-BF74-6869464595FB}"/>
                  </a:ext>
                </a:extLst>
              </p:cNvPr>
              <p:cNvSpPr txBox="1"/>
              <p:nvPr/>
            </p:nvSpPr>
            <p:spPr>
              <a:xfrm>
                <a:off x="152400" y="2715712"/>
                <a:ext cx="661987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14:m>
                  <m:oMath xmlns:m="http://schemas.openxmlformats.org/officeDocument/2006/math">
                    <m:r>
                      <a:rPr lang="en-US" b="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 </a:t>
                </a:r>
                <a:r>
                  <a:rPr lang="en-US" dirty="0" err="1">
                    <a:solidFill>
                      <a:schemeClr val="bg1"/>
                    </a:solidFill>
                    <a:latin typeface="Calibri" panose="02020502050305020303" pitchFamily="18" charset="0"/>
                  </a:rPr>
                  <a:t>valutazioni</a:t>
                </a:r>
                <a:r>
                  <a:rPr lang="en-US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 senza </a:t>
                </a:r>
                <a:r>
                  <a:rPr lang="en-US" dirty="0" err="1">
                    <a:solidFill>
                      <a:schemeClr val="bg1"/>
                    </a:solidFill>
                    <a:latin typeface="Calibri" panose="02020502050305020303" pitchFamily="18" charset="0"/>
                  </a:rPr>
                  <a:t>miglioramento</a:t>
                </a:r>
                <a:r>
                  <a:rPr lang="en-US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 → </a:t>
                </a:r>
                <a:r>
                  <a:rPr lang="en-US" dirty="0" err="1">
                    <a:solidFill>
                      <a:schemeClr val="bg1"/>
                    </a:solidFill>
                    <a:latin typeface="Calibri" panose="02020502050305020303" pitchFamily="18" charset="0"/>
                  </a:rPr>
                  <a:t>ricampiona</a:t>
                </a:r>
                <a:endParaRPr lang="en-US" dirty="0">
                  <a:solidFill>
                    <a:schemeClr val="bg1"/>
                  </a:solidFill>
                  <a:latin typeface="Calibri" panose="02020502050305020303" pitchFamily="18" charset="0"/>
                </a:endParaRPr>
              </a:p>
              <a:p>
                <a:endParaRPr lang="it-IT" dirty="0">
                  <a:solidFill>
                    <a:schemeClr val="bg1"/>
                  </a:solidFill>
                  <a:latin typeface="Calibri" panose="02020502050305020303" pitchFamily="18" charset="0"/>
                </a:endParaRPr>
              </a:p>
            </p:txBody>
          </p:sp>
        </mc:Choice>
        <mc:Fallback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A2D2E3A0-D7FC-6969-BF74-6869464595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2715712"/>
                <a:ext cx="6619875" cy="646331"/>
              </a:xfrm>
              <a:prstGeom prst="rect">
                <a:avLst/>
              </a:prstGeom>
              <a:blipFill>
                <a:blip r:embed="rId4"/>
                <a:stretch>
                  <a:fillRect t="-467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magine 6">
            <a:extLst>
              <a:ext uri="{FF2B5EF4-FFF2-40B4-BE49-F238E27FC236}">
                <a16:creationId xmlns:a16="http://schemas.microsoft.com/office/drawing/2014/main" id="{5C64D89E-8CD2-0AEB-F7B3-7109161BB6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3895725"/>
            <a:ext cx="8647637" cy="296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0807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975A90-3E9E-C92C-2745-CD08FE699D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182880"/>
            <a:ext cx="11277600" cy="750000"/>
          </a:xfrm>
        </p:spPr>
        <p:txBody>
          <a:bodyPr anchor="t">
            <a:normAutofit/>
          </a:bodyPr>
          <a:lstStyle/>
          <a:p>
            <a:pPr algn="l"/>
            <a:r>
              <a:rPr lang="it-IT" sz="3200" b="1" dirty="0">
                <a:solidFill>
                  <a:srgbClr val="1E3A5F"/>
                </a:solidFill>
                <a:latin typeface="Cambria" panose="02020202020202020204" charset="0"/>
              </a:rPr>
              <a:t>Conclusioni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ottotitolo 2">
                <a:extLst>
                  <a:ext uri="{FF2B5EF4-FFF2-40B4-BE49-F238E27FC236}">
                    <a16:creationId xmlns:a16="http://schemas.microsoft.com/office/drawing/2014/main" id="{881D1066-D591-725A-783A-D52E1CC9DD58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84727" y="1034303"/>
                <a:ext cx="8988922" cy="3985566"/>
              </a:xfrm>
            </p:spPr>
            <p:txBody>
              <a:bodyPr>
                <a:noAutofit/>
              </a:bodyPr>
              <a:lstStyle/>
              <a:p>
                <a:pPr lvl="0" algn="l">
                  <a:spcBef>
                    <a:spcPts val="0"/>
                  </a:spcBef>
                </a:pPr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Il batch dinamico è adattivo e competitivo con lo stato dell'arte.</a:t>
                </a:r>
              </a:p>
              <a:p>
                <a:pPr marL="285750" lvl="0" indent="-285750" algn="l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BB-CCV raggiunge la precisione macchina su </a:t>
                </a:r>
                <a14:m>
                  <m:oMath xmlns:m="http://schemas.openxmlformats.org/officeDocument/2006/math">
                    <m:r>
                      <a:rPr lang="it-IT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𝜅</m:t>
                    </m:r>
                    <m:r>
                      <a:rPr lang="it-IT" sz="1800" b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it-IT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it-IT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b>
                    </m:sSub>
                    <m:r>
                      <a:rPr lang="it-IT" sz="1800" b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it-IT" sz="1800" b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it-IT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it-IT" sz="1800" b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it-IT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it-IT" sz="1800" b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it-IT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</m:oMath>
                </a14:m>
                <a:endParaRPr lang="it-IT" sz="1800" dirty="0">
                  <a:solidFill>
                    <a:schemeClr val="bg1"/>
                  </a:solidFill>
                  <a:latin typeface="Calibri" panose="02020502050305020303" pitchFamily="18" charset="0"/>
                </a:endParaRPr>
              </a:p>
              <a:p>
                <a:pPr marL="285750" lvl="0" indent="-285750" algn="l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Dynamic GD è il più stabile su Rosenbrock: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it-IT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b>
                    </m:sSub>
                    <m:r>
                      <a:rPr lang="it-IT" sz="1800" b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it-IT" sz="1800" b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it-IT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it-IT" sz="1800" b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it-IT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it-IT" sz="1800" b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it-IT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it-IT" sz="1800" dirty="0">
                  <a:solidFill>
                    <a:schemeClr val="bg1"/>
                  </a:solidFill>
                  <a:latin typeface="Calibri" panose="02020502050305020303" pitchFamily="18" charset="0"/>
                </a:endParaRPr>
              </a:p>
              <a:p>
                <a:pPr marL="285750" lvl="0" indent="-285750" algn="l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Newton-CG e Newton-CG L1 soffrono su Rosenbrock (Hessiana </a:t>
                </a:r>
                <a:r>
                  <a:rPr lang="it-IT" sz="1800" dirty="0" err="1">
                    <a:solidFill>
                      <a:schemeClr val="bg1"/>
                    </a:solidFill>
                    <a:latin typeface="Calibri" panose="02020502050305020303" pitchFamily="18" charset="0"/>
                  </a:rPr>
                  <a:t>sottocampionata</a:t>
                </a:r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 poco rappresentativa) </a:t>
                </a:r>
              </a:p>
              <a:p>
                <a:pPr lvl="0" algn="l">
                  <a:spcBef>
                    <a:spcPts val="0"/>
                  </a:spcBef>
                </a:pPr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Il riuso del batch aiuta sui ben condizionati, ma va controllato sui mal condizionati e sui metodi del secondo ordine.</a:t>
                </a:r>
              </a:p>
              <a:p>
                <a:pPr marL="285750" lvl="0" indent="-285750" algn="l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Su </a:t>
                </a:r>
                <a14:m>
                  <m:oMath xmlns:m="http://schemas.openxmlformats.org/officeDocument/2006/math">
                    <m:r>
                      <a:rPr lang="it-IT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𝜅</m:t>
                    </m:r>
                    <m:r>
                      <a:rPr lang="it-IT" sz="1800" b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it-IT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it-IT" sz="1800" b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it-IT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: riuso migliora su 5/5 </a:t>
                </a:r>
                <a:r>
                  <a:rPr lang="it-IT" sz="1800" dirty="0" err="1">
                    <a:solidFill>
                      <a:schemeClr val="bg1"/>
                    </a:solidFill>
                    <a:latin typeface="Calibri" panose="02020502050305020303" pitchFamily="18" charset="0"/>
                  </a:rPr>
                  <a:t>seed</a:t>
                </a:r>
                <a:endParaRPr lang="it-IT" sz="1800" dirty="0">
                  <a:solidFill>
                    <a:schemeClr val="bg1"/>
                  </a:solidFill>
                  <a:latin typeface="Calibri" panose="02020502050305020303" pitchFamily="18" charset="0"/>
                </a:endParaRPr>
              </a:p>
              <a:p>
                <a:pPr marL="285750" lvl="0" indent="-285750" algn="l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Su </a:t>
                </a:r>
                <a14:m>
                  <m:oMath xmlns:m="http://schemas.openxmlformats.org/officeDocument/2006/math">
                    <m:r>
                      <a:rPr lang="it-IT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𝜅</m:t>
                    </m:r>
                    <m:r>
                      <a:rPr lang="it-IT" sz="1800" b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it-IT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: Newton-CG con </a:t>
                </a:r>
                <a14:m>
                  <m:oMath xmlns:m="http://schemas.openxmlformats.org/officeDocument/2006/math">
                    <m:r>
                      <a:rPr lang="it-IT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it-IT" sz="1800" b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 collassa 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it-IT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sub>
                    </m:sSub>
                    <m:r>
                      <a:rPr lang="it-IT" sz="1800" b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it-IT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it-IT" sz="1800" b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it-IT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)</a:t>
                </a:r>
              </a:p>
              <a:p>
                <a:pPr marL="285750" lvl="0" indent="-285750" algn="l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BB-CCV su </a:t>
                </a:r>
                <a14:m>
                  <m:oMath xmlns:m="http://schemas.openxmlformats.org/officeDocument/2006/math">
                    <m:r>
                      <a:rPr lang="it-IT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𝜅</m:t>
                    </m:r>
                    <m:r>
                      <a:rPr lang="it-IT" sz="1800" b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it-IT" sz="1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: riuso porta da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it-IT" sz="1800" b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it-IT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 a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it-IT" sz="1800" b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it-IT" sz="1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endParaRPr lang="it-IT" sz="1800" dirty="0">
                  <a:solidFill>
                    <a:schemeClr val="bg1"/>
                  </a:solidFill>
                  <a:latin typeface="Calibri" panose="02020502050305020303" pitchFamily="18" charset="0"/>
                </a:endParaRPr>
              </a:p>
              <a:p>
                <a:pPr lvl="0" algn="l">
                  <a:spcBef>
                    <a:spcPts val="0"/>
                  </a:spcBef>
                </a:pPr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Lo stop adattivo migliora i metodi di Newton.</a:t>
                </a:r>
              </a:p>
              <a:p>
                <a:pPr marL="285750" lvl="0" indent="-285750" algn="l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L'app web permette di sperimentare i metodi in tempo reale.</a:t>
                </a:r>
              </a:p>
              <a:p>
                <a:pPr marL="285750" lvl="0" indent="-285750" algn="l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it-IT" sz="1800" dirty="0" err="1">
                    <a:solidFill>
                      <a:schemeClr val="bg1"/>
                    </a:solidFill>
                    <a:latin typeface="Calibri" panose="02020502050305020303" pitchFamily="18" charset="0"/>
                  </a:rPr>
                  <a:t>Pyodide</a:t>
                </a:r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 (Python nel browser) + </a:t>
                </a:r>
                <a:r>
                  <a:rPr lang="it-IT" sz="1800" dirty="0" err="1">
                    <a:solidFill>
                      <a:schemeClr val="bg1"/>
                    </a:solidFill>
                    <a:latin typeface="Calibri" panose="02020502050305020303" pitchFamily="18" charset="0"/>
                  </a:rPr>
                  <a:t>Plotly</a:t>
                </a:r>
                <a:endParaRPr lang="it-IT" sz="1800" dirty="0">
                  <a:solidFill>
                    <a:schemeClr val="bg1"/>
                  </a:solidFill>
                  <a:latin typeface="Calibri" panose="02020502050305020303" pitchFamily="18" charset="0"/>
                </a:endParaRPr>
              </a:p>
              <a:p>
                <a:pPr marL="285750" lvl="0" indent="-285750" algn="l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4 algoritmi, 5 </a:t>
                </a:r>
                <a:r>
                  <a:rPr lang="it-IT" sz="1800" dirty="0" err="1">
                    <a:solidFill>
                      <a:schemeClr val="bg1"/>
                    </a:solidFill>
                    <a:latin typeface="Calibri" panose="02020502050305020303" pitchFamily="18" charset="0"/>
                  </a:rPr>
                  <a:t>preset</a:t>
                </a:r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 di </a:t>
                </a:r>
                <a:r>
                  <a:rPr lang="it-IT" sz="1800" dirty="0" err="1">
                    <a:solidFill>
                      <a:schemeClr val="bg1"/>
                    </a:solidFill>
                    <a:latin typeface="Calibri" panose="02020502050305020303" pitchFamily="18" charset="0"/>
                  </a:rPr>
                  <a:t>loss</a:t>
                </a:r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, parametri personalizzabili</a:t>
                </a:r>
              </a:p>
              <a:p>
                <a:pPr marL="285750" lvl="0" indent="-285750" algn="l"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it-IT" sz="1800" dirty="0">
                    <a:solidFill>
                      <a:schemeClr val="bg1"/>
                    </a:solidFill>
                    <a:latin typeface="Calibri" panose="02020502050305020303" pitchFamily="18" charset="0"/>
                  </a:rPr>
                  <a:t>Traiettorie 3D/2D, metriche in tempo reale, analisi di convergenza</a:t>
                </a:r>
              </a:p>
              <a:p>
                <a:pPr lvl="0" algn="l">
                  <a:spcBef>
                    <a:spcPts val="0"/>
                  </a:spcBef>
                </a:pPr>
                <a:endParaRPr lang="it-IT" sz="1800" dirty="0">
                  <a:solidFill>
                    <a:schemeClr val="bg1"/>
                  </a:solidFill>
                  <a:latin typeface="Calibri" panose="02020502050305020303" pitchFamily="18" charset="0"/>
                </a:endParaRPr>
              </a:p>
            </p:txBody>
          </p:sp>
        </mc:Choice>
        <mc:Fallback xmlns="">
          <p:sp>
            <p:nvSpPr>
              <p:cNvPr id="3" name="Sottotitolo 2">
                <a:extLst>
                  <a:ext uri="{FF2B5EF4-FFF2-40B4-BE49-F238E27FC236}">
                    <a16:creationId xmlns:a16="http://schemas.microsoft.com/office/drawing/2014/main" id="{881D1066-D591-725A-783A-D52E1CC9DD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84727" y="1034303"/>
                <a:ext cx="8988922" cy="3985566"/>
              </a:xfrm>
              <a:blipFill>
                <a:blip r:embed="rId2"/>
                <a:stretch>
                  <a:fillRect l="-542" b="-2833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73823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457200" y="365760"/>
            <a:ext cx="11277600" cy="750000"/>
          </a:xfrm>
        </p:spPr>
        <p:txBody>
          <a:bodyPr anchor="t">
            <a:normAutofit/>
          </a:bodyPr>
          <a:lstStyle/>
          <a:p>
            <a:pPr algn="l"/>
            <a:r>
              <a:rPr lang="it-IT" sz="3600" b="1" dirty="0">
                <a:solidFill>
                  <a:srgbClr val="FFFFFF"/>
                </a:solidFill>
                <a:latin typeface="Cambria" panose="02020202020202020204" charset="0"/>
              </a:rPr>
              <a:t>Lavoro futuro</a:t>
            </a:r>
          </a:p>
        </p:txBody>
      </p:sp>
      <p:sp>
        <p:nvSpPr>
          <p:cNvPr id="4" name="Contenuto"/>
          <p:cNvSpPr txBox="1"/>
          <p:nvPr/>
        </p:nvSpPr>
        <p:spPr>
          <a:xfrm>
            <a:off x="571500" y="1371600"/>
            <a:ext cx="11049000" cy="48006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r>
              <a:rPr lang="it-IT" sz="2000" b="1" dirty="0">
                <a:solidFill>
                  <a:srgbClr val="CADCFC"/>
                </a:solidFill>
                <a:latin typeface="Cambria" panose="02020202020202020204" charset="0"/>
              </a:rPr>
              <a:t>1. Rilassamento dell'ipotesi di convessità forte</a:t>
            </a:r>
          </a:p>
          <a:p>
            <a:pPr>
              <a:spcBef>
                <a:spcPts val="400"/>
              </a:spcBef>
            </a:pPr>
            <a:r>
              <a:rPr lang="it-IT" sz="1600" dirty="0">
                <a:solidFill>
                  <a:srgbClr val="E8EEF7"/>
                </a:solidFill>
                <a:latin typeface="Calibri" panose="020F0502020204030204" pitchFamily="34" charset="0"/>
              </a:rPr>
              <a:t>Sostituire la convessità forte con la condizione di Polyak–Lojasiewicz (PL):</a:t>
            </a:r>
          </a:p>
          <a:p>
            <a:pPr>
              <a:spcBef>
                <a:spcPts val="400"/>
              </a:spcBef>
            </a:pPr>
            <a:r>
              <a:rPr lang="it-IT" sz="1600" dirty="0">
                <a:solidFill>
                  <a:srgbClr val="E8EEF7"/>
                </a:solidFill>
                <a:latin typeface="Calibri" panose="020F0502020204030204" pitchFamily="34" charset="0"/>
              </a:rPr>
              <a:t>La convessità forte è un caso particolare della PL</a:t>
            </a:r>
          </a:p>
          <a:p>
            <a:pPr>
              <a:spcBef>
                <a:spcPts val="400"/>
              </a:spcBef>
            </a:pPr>
            <a:r>
              <a:rPr lang="it-IT" sz="1600" dirty="0">
                <a:solidFill>
                  <a:srgbClr val="E8EEF7"/>
                </a:solidFill>
                <a:latin typeface="Calibri" panose="020F0502020204030204" pitchFamily="34" charset="0"/>
              </a:rPr>
              <a:t>In questo modo l’analisi teorica coprirebbe un insieme più ampio di funzioni</a:t>
            </a:r>
          </a:p>
          <a:p>
            <a:pPr>
              <a:spcBef>
                <a:spcPts val="1800"/>
              </a:spcBef>
            </a:pPr>
            <a:r>
              <a:rPr lang="it-IT" sz="2000" b="1" dirty="0">
                <a:solidFill>
                  <a:srgbClr val="CADCFC"/>
                </a:solidFill>
                <a:latin typeface="Cambria" panose="02020202020202020204" charset="0"/>
              </a:rPr>
              <a:t>2. Rapporto di sottocampionamento dell'Hessiana dinamico</a:t>
            </a:r>
          </a:p>
          <a:p>
            <a:pPr>
              <a:spcBef>
                <a:spcPts val="400"/>
              </a:spcBef>
            </a:pPr>
            <a:r>
              <a:rPr lang="it-IT" sz="1600" dirty="0">
                <a:solidFill>
                  <a:srgbClr val="E8EEF7"/>
                </a:solidFill>
                <a:latin typeface="Calibri" panose="020F0502020204030204" pitchFamily="34" charset="0"/>
              </a:rPr>
              <a:t>Anziché tenere R fisso, si potrebbe aumentarlo quando la varianza dell’Hessiana cresce</a:t>
            </a:r>
          </a:p>
          <a:p>
            <a:pPr>
              <a:spcBef>
                <a:spcPts val="1800"/>
              </a:spcBef>
            </a:pPr>
            <a:r>
              <a:rPr lang="it-IT" sz="2000" b="1" dirty="0">
                <a:solidFill>
                  <a:srgbClr val="CADCFC"/>
                </a:solidFill>
                <a:latin typeface="Cambria" panose="02020202020202020204" charset="0"/>
              </a:rPr>
              <a:t>3. Implementazione e confronto sistematico con GD, SGD, SVRG e SAGA</a:t>
            </a:r>
          </a:p>
          <a:p>
            <a:pPr>
              <a:spcBef>
                <a:spcPts val="400"/>
              </a:spcBef>
            </a:pPr>
            <a:r>
              <a:rPr lang="it-IT" sz="1600" dirty="0">
                <a:solidFill>
                  <a:srgbClr val="E8EEF7"/>
                </a:solidFill>
                <a:latin typeface="Calibri" panose="020F0502020204030204" pitchFamily="34" charset="0"/>
              </a:rPr>
              <a:t>Implementare i metodi GD, SGD, SVRG e SAGA nella stessa piattaforma (Pyodide/NumPy) e confrontarli con il campionamento dinamico in termini di costo computazionale totale (numero di gradienti valutati o tempo di esecuzione), non di iterazioni.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finale"/>
          <p:cNvSpPr txBox="1"/>
          <p:nvPr/>
        </p:nvSpPr>
        <p:spPr>
          <a:xfrm>
            <a:off x="685800" y="2400300"/>
            <a:ext cx="10820400" cy="120000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 algn="ctr"/>
            <a:r>
              <a:rPr lang="it-IT" sz="4400" b="1" dirty="0">
                <a:solidFill>
                  <a:srgbClr val="FFFFFF"/>
                </a:solidFill>
                <a:latin typeface="Cambria" panose="02020202020202020204" charset="0"/>
              </a:rPr>
              <a:t>Grazie per l’attenzione</a:t>
            </a:r>
          </a:p>
        </p:txBody>
      </p:sp>
      <p:sp>
        <p:nvSpPr>
          <p:cNvPr id="3" name="Sottotitolo finale"/>
          <p:cNvSpPr txBox="1"/>
          <p:nvPr/>
        </p:nvSpPr>
        <p:spPr>
          <a:xfrm>
            <a:off x="685800" y="3650000"/>
            <a:ext cx="10820400" cy="700000"/>
          </a:xfrm>
          <a:prstGeom prst="rect">
            <a:avLst/>
          </a:prstGeom>
          <a:noFill/>
        </p:spPr>
        <p:txBody>
          <a:bodyPr anchor="t">
            <a:noAutofit/>
          </a:bodyPr>
          <a:lstStyle/>
          <a:p>
            <a:pPr algn="ctr"/>
            <a:r>
              <a:rPr lang="it-IT" sz="2800" i="1" dirty="0">
                <a:solidFill>
                  <a:srgbClr val="CADCFC"/>
                </a:solidFill>
                <a:latin typeface="Cambria" panose="02020202020202020204" charset="0"/>
              </a:rPr>
              <a:t>Domande?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una">
  <a:themeElements>
    <a:clrScheme name="Duna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7A434096-21D7-44B8-8536-5670F4990977}" vid="{9E2B180D-3A1B-4983-B64A-9C133C18DC91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Duna">
    <a:dk1>
      <a:srgbClr val="131313"/>
    </a:dk1>
    <a:lt1>
      <a:sysClr val="window" lastClr="FFFFFF"/>
    </a:lt1>
    <a:dk2>
      <a:srgbClr val="272D2B"/>
    </a:dk2>
    <a:lt2>
      <a:srgbClr val="F0EDE6"/>
    </a:lt2>
    <a:accent1>
      <a:srgbClr val="647E6B"/>
    </a:accent1>
    <a:accent2>
      <a:srgbClr val="476262"/>
    </a:accent2>
    <a:accent3>
      <a:srgbClr val="9B8C69"/>
    </a:accent3>
    <a:accent4>
      <a:srgbClr val="BA988C"/>
    </a:accent4>
    <a:accent5>
      <a:srgbClr val="A27C7C"/>
    </a:accent5>
    <a:accent6>
      <a:srgbClr val="79958B"/>
    </a:accent6>
    <a:hlink>
      <a:srgbClr val="476262"/>
    </a:hlink>
    <a:folHlink>
      <a:srgbClr val="A27C7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2258</TotalTime>
  <Words>1741</Words>
  <Application>Microsoft Office PowerPoint</Application>
  <PresentationFormat>Widescreen</PresentationFormat>
  <Paragraphs>140</Paragraphs>
  <Slides>23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23</vt:i4>
      </vt:variant>
    </vt:vector>
  </HeadingPairs>
  <TitlesOfParts>
    <vt:vector size="30" baseType="lpstr">
      <vt:lpstr>Aptos</vt:lpstr>
      <vt:lpstr>Arial</vt:lpstr>
      <vt:lpstr>Calibri</vt:lpstr>
      <vt:lpstr>Cambria</vt:lpstr>
      <vt:lpstr>Cambria Math</vt:lpstr>
      <vt:lpstr>Neue Haas Grotesk Text Pro</vt:lpstr>
      <vt:lpstr>Duna</vt:lpstr>
      <vt:lpstr>Presentazione standard di PowerPoint</vt:lpstr>
      <vt:lpstr>Contesto</vt:lpstr>
      <vt:lpstr>Metodi a varianza ridotta</vt:lpstr>
      <vt:lpstr>Metodi a varianza ridotta: Schemi</vt:lpstr>
      <vt:lpstr>Condizione di Controllo sulla Varianza</vt:lpstr>
      <vt:lpstr>Dynamic GD</vt:lpstr>
      <vt:lpstr>Analisi Deterministica</vt:lpstr>
      <vt:lpstr>Analisi Stocastica</vt:lpstr>
      <vt:lpstr>Newton CG</vt:lpstr>
      <vt:lpstr>Newton CG: Schema</vt:lpstr>
      <vt:lpstr>Newton CG L1</vt:lpstr>
      <vt:lpstr>Presentazione standard di PowerPoint</vt:lpstr>
      <vt:lpstr>Barzilai Borwein CCV</vt:lpstr>
      <vt:lpstr>Schema BB-CCV</vt:lpstr>
      <vt:lpstr>Presentazione standard di PowerPoint</vt:lpstr>
      <vt:lpstr>Presentazione standard di PowerPoint</vt:lpstr>
      <vt:lpstr>Riuso dello stesso minibatch</vt:lpstr>
      <vt:lpstr>Presentazione standard di PowerPoint</vt:lpstr>
      <vt:lpstr>Stop adattivo con validation set</vt:lpstr>
      <vt:lpstr>Riuso per discesa della loss sul batch</vt:lpstr>
      <vt:lpstr>Conclusioni</vt:lpstr>
      <vt:lpstr>Lavoro futuro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Alessandro Lo Curcio</dc:creator>
  <cp:lastModifiedBy>Alessandro Lo Curcio</cp:lastModifiedBy>
  <cp:revision>14</cp:revision>
  <dcterms:created xsi:type="dcterms:W3CDTF">2026-09-07T15:38:32Z</dcterms:created>
  <dcterms:modified xsi:type="dcterms:W3CDTF">2026-09-10T14:49:34Z</dcterms:modified>
</cp:coreProperties>
</file>